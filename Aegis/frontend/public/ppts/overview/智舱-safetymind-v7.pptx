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.svg" ContentType="image/svg+xml"/>
  <Override PartName="/ppt/media/image15.svg" ContentType="image/svg+xml"/>
  <Override PartName="/ppt/media/image17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16777211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37"/>
  </p:normalViewPr>
  <p:slideViewPr>
    <p:cSldViewPr snapToGrid="0">
      <p:cViewPr varScale="1">
        <p:scale>
          <a:sx n="147" d="100"/>
          <a:sy n="147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61708-D3BD-5844-81EB-29C3EF209CE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12F184-7397-7548-8B72-071E08E0B9B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_副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hua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287632" y="757405"/>
            <a:ext cx="11656382" cy="6720"/>
            <a:chOff x="542" y="1387"/>
            <a:chExt cx="17345" cy="10"/>
          </a:xfrm>
        </p:grpSpPr>
        <p:cxnSp>
          <p:nvCxnSpPr>
            <p:cNvPr id="8" name="直接连接符 8"/>
            <p:cNvCxnSpPr/>
            <p:nvPr userDrawn="1"/>
          </p:nvCxnSpPr>
          <p:spPr>
            <a:xfrm flipH="1">
              <a:off x="542" y="1388"/>
              <a:ext cx="13975" cy="9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11"/>
            <p:cNvCxnSpPr/>
            <p:nvPr userDrawn="1"/>
          </p:nvCxnSpPr>
          <p:spPr>
            <a:xfrm flipH="1">
              <a:off x="17157" y="1387"/>
              <a:ext cx="730" cy="1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灯片编号占位符 5"/>
          <p:cNvSpPr txBox="1"/>
          <p:nvPr userDrawn="1"/>
        </p:nvSpPr>
        <p:spPr>
          <a:xfrm>
            <a:off x="10809657" y="6631709"/>
            <a:ext cx="1354346" cy="21362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r"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r"/>
            <a:r>
              <a:rPr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</a:t>
            </a:r>
            <a:fld id="{C0AB8570-16F8-4D0A-8689-74A072A91A2D}" type="slidenum">
              <a:rPr lang="zh-CN" altLang="en-US" sz="800" noProof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r>
              <a:rPr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页 </a:t>
            </a:r>
            <a:endParaRPr lang="zh-CN" altLang="en-US" sz="8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2" cstate="screen"/>
          <a:srcRect/>
          <a:stretch>
            <a:fillRect/>
          </a:stretch>
        </p:blipFill>
        <p:spPr>
          <a:xfrm>
            <a:off x="9889290" y="235249"/>
            <a:ext cx="1354345" cy="57311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2" Type="http://schemas.openxmlformats.org/officeDocument/2006/relationships/slideLayout" Target="../slideLayouts/slideLayout7.xml"/><Relationship Id="rId71" Type="http://schemas.openxmlformats.org/officeDocument/2006/relationships/image" Target="../media/image38.png"/><Relationship Id="rId70" Type="http://schemas.openxmlformats.org/officeDocument/2006/relationships/image" Target="../media/image37.png"/><Relationship Id="rId7" Type="http://schemas.openxmlformats.org/officeDocument/2006/relationships/image" Target="../media/image8.png"/><Relationship Id="rId69" Type="http://schemas.openxmlformats.org/officeDocument/2006/relationships/image" Target="../media/image36.png"/><Relationship Id="rId68" Type="http://schemas.openxmlformats.org/officeDocument/2006/relationships/image" Target="../media/image35.png"/><Relationship Id="rId67" Type="http://schemas.openxmlformats.org/officeDocument/2006/relationships/image" Target="../media/image34.png"/><Relationship Id="rId66" Type="http://schemas.openxmlformats.org/officeDocument/2006/relationships/image" Target="../media/image33.png"/><Relationship Id="rId65" Type="http://schemas.openxmlformats.org/officeDocument/2006/relationships/image" Target="../media/image32.png"/><Relationship Id="rId64" Type="http://schemas.openxmlformats.org/officeDocument/2006/relationships/image" Target="../media/image31.png"/><Relationship Id="rId63" Type="http://schemas.openxmlformats.org/officeDocument/2006/relationships/tags" Target="../tags/tag39.xml"/><Relationship Id="rId62" Type="http://schemas.openxmlformats.org/officeDocument/2006/relationships/image" Target="../media/image30.png"/><Relationship Id="rId61" Type="http://schemas.openxmlformats.org/officeDocument/2006/relationships/tags" Target="../tags/tag38.xml"/><Relationship Id="rId60" Type="http://schemas.openxmlformats.org/officeDocument/2006/relationships/image" Target="../media/image29.png"/><Relationship Id="rId6" Type="http://schemas.openxmlformats.org/officeDocument/2006/relationships/image" Target="../media/image7.png"/><Relationship Id="rId59" Type="http://schemas.openxmlformats.org/officeDocument/2006/relationships/tags" Target="../tags/tag37.xml"/><Relationship Id="rId58" Type="http://schemas.openxmlformats.org/officeDocument/2006/relationships/image" Target="../media/image28.png"/><Relationship Id="rId57" Type="http://schemas.openxmlformats.org/officeDocument/2006/relationships/tags" Target="../tags/tag36.xml"/><Relationship Id="rId56" Type="http://schemas.openxmlformats.org/officeDocument/2006/relationships/tags" Target="../tags/tag35.xml"/><Relationship Id="rId55" Type="http://schemas.openxmlformats.org/officeDocument/2006/relationships/tags" Target="../tags/tag34.xml"/><Relationship Id="rId54" Type="http://schemas.openxmlformats.org/officeDocument/2006/relationships/tags" Target="../tags/tag33.xml"/><Relationship Id="rId53" Type="http://schemas.openxmlformats.org/officeDocument/2006/relationships/tags" Target="../tags/tag32.xml"/><Relationship Id="rId52" Type="http://schemas.openxmlformats.org/officeDocument/2006/relationships/tags" Target="../tags/tag31.xml"/><Relationship Id="rId51" Type="http://schemas.openxmlformats.org/officeDocument/2006/relationships/tags" Target="../tags/tag30.xml"/><Relationship Id="rId50" Type="http://schemas.openxmlformats.org/officeDocument/2006/relationships/tags" Target="../tags/tag29.xml"/><Relationship Id="rId5" Type="http://schemas.openxmlformats.org/officeDocument/2006/relationships/image" Target="../media/image6.png"/><Relationship Id="rId49" Type="http://schemas.openxmlformats.org/officeDocument/2006/relationships/tags" Target="../tags/tag28.xml"/><Relationship Id="rId48" Type="http://schemas.openxmlformats.org/officeDocument/2006/relationships/tags" Target="../tags/tag27.xml"/><Relationship Id="rId47" Type="http://schemas.openxmlformats.org/officeDocument/2006/relationships/tags" Target="../tags/tag26.xml"/><Relationship Id="rId46" Type="http://schemas.openxmlformats.org/officeDocument/2006/relationships/tags" Target="../tags/tag25.xml"/><Relationship Id="rId45" Type="http://schemas.openxmlformats.org/officeDocument/2006/relationships/tags" Target="../tags/tag24.xml"/><Relationship Id="rId44" Type="http://schemas.openxmlformats.org/officeDocument/2006/relationships/tags" Target="../tags/tag23.xml"/><Relationship Id="rId43" Type="http://schemas.openxmlformats.org/officeDocument/2006/relationships/tags" Target="../tags/tag22.xml"/><Relationship Id="rId42" Type="http://schemas.openxmlformats.org/officeDocument/2006/relationships/tags" Target="../tags/tag21.xml"/><Relationship Id="rId41" Type="http://schemas.openxmlformats.org/officeDocument/2006/relationships/tags" Target="../tags/tag20.xml"/><Relationship Id="rId40" Type="http://schemas.openxmlformats.org/officeDocument/2006/relationships/tags" Target="../tags/tag19.xml"/><Relationship Id="rId4" Type="http://schemas.openxmlformats.org/officeDocument/2006/relationships/image" Target="../media/image5.png"/><Relationship Id="rId39" Type="http://schemas.openxmlformats.org/officeDocument/2006/relationships/tags" Target="../tags/tag18.xml"/><Relationship Id="rId38" Type="http://schemas.openxmlformats.org/officeDocument/2006/relationships/image" Target="../media/image27.png"/><Relationship Id="rId37" Type="http://schemas.openxmlformats.org/officeDocument/2006/relationships/image" Target="../media/image26.svg"/><Relationship Id="rId36" Type="http://schemas.openxmlformats.org/officeDocument/2006/relationships/image" Target="../media/image25.png"/><Relationship Id="rId35" Type="http://schemas.openxmlformats.org/officeDocument/2006/relationships/image" Target="../media/image24.svg"/><Relationship Id="rId34" Type="http://schemas.openxmlformats.org/officeDocument/2006/relationships/image" Target="../media/image23.png"/><Relationship Id="rId33" Type="http://schemas.openxmlformats.org/officeDocument/2006/relationships/image" Target="../media/image22.svg"/><Relationship Id="rId32" Type="http://schemas.openxmlformats.org/officeDocument/2006/relationships/image" Target="../media/image21.png"/><Relationship Id="rId31" Type="http://schemas.openxmlformats.org/officeDocument/2006/relationships/image" Target="../media/image20.svg"/><Relationship Id="rId30" Type="http://schemas.openxmlformats.org/officeDocument/2006/relationships/image" Target="../media/image19.png"/><Relationship Id="rId3" Type="http://schemas.openxmlformats.org/officeDocument/2006/relationships/image" Target="../media/image4.png"/><Relationship Id="rId29" Type="http://schemas.openxmlformats.org/officeDocument/2006/relationships/image" Target="../media/image18.png"/><Relationship Id="rId28" Type="http://schemas.openxmlformats.org/officeDocument/2006/relationships/tags" Target="../tags/tag17.xml"/><Relationship Id="rId27" Type="http://schemas.openxmlformats.org/officeDocument/2006/relationships/tags" Target="../tags/tag16.xml"/><Relationship Id="rId26" Type="http://schemas.openxmlformats.org/officeDocument/2006/relationships/image" Target="../media/image17.svg"/><Relationship Id="rId25" Type="http://schemas.openxmlformats.org/officeDocument/2006/relationships/image" Target="../media/image16.png"/><Relationship Id="rId24" Type="http://schemas.openxmlformats.org/officeDocument/2006/relationships/tags" Target="../tags/tag15.xml"/><Relationship Id="rId23" Type="http://schemas.openxmlformats.org/officeDocument/2006/relationships/tags" Target="../tags/tag14.xml"/><Relationship Id="rId22" Type="http://schemas.openxmlformats.org/officeDocument/2006/relationships/tags" Target="../tags/tag13.xml"/><Relationship Id="rId21" Type="http://schemas.openxmlformats.org/officeDocument/2006/relationships/tags" Target="../tags/tag12.xml"/><Relationship Id="rId20" Type="http://schemas.openxmlformats.org/officeDocument/2006/relationships/image" Target="../media/image15.svg"/><Relationship Id="rId2" Type="http://schemas.openxmlformats.org/officeDocument/2006/relationships/image" Target="../media/image3.png"/><Relationship Id="rId19" Type="http://schemas.openxmlformats.org/officeDocument/2006/relationships/image" Target="../media/image14.png"/><Relationship Id="rId18" Type="http://schemas.openxmlformats.org/officeDocument/2006/relationships/tags" Target="../tags/tag11.xml"/><Relationship Id="rId17" Type="http://schemas.openxmlformats.org/officeDocument/2006/relationships/tags" Target="../tags/tag10.xml"/><Relationship Id="rId16" Type="http://schemas.openxmlformats.org/officeDocument/2006/relationships/tags" Target="../tags/tag9.xml"/><Relationship Id="rId15" Type="http://schemas.openxmlformats.org/officeDocument/2006/relationships/tags" Target="../tags/tag8.xml"/><Relationship Id="rId14" Type="http://schemas.openxmlformats.org/officeDocument/2006/relationships/image" Target="../media/image13.svg"/><Relationship Id="rId13" Type="http://schemas.openxmlformats.org/officeDocument/2006/relationships/image" Target="../media/image12.png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圆角矩形 44"/>
          <p:cNvSpPr/>
          <p:nvPr/>
        </p:nvSpPr>
        <p:spPr>
          <a:xfrm>
            <a:off x="8233767" y="1612058"/>
            <a:ext cx="3668712" cy="655320"/>
          </a:xfrm>
          <a:prstGeom prst="roundRect">
            <a:avLst>
              <a:gd name="adj" fmla="val 4841"/>
            </a:avLst>
          </a:prstGeom>
          <a:solidFill>
            <a:schemeClr val="bg1">
              <a:lumMod val="75000"/>
              <a:alpha val="26356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251999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  <a:sym typeface="Noto Sans SC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4321571" y="1619543"/>
            <a:ext cx="3593187" cy="655320"/>
          </a:xfrm>
          <a:prstGeom prst="roundRect">
            <a:avLst>
              <a:gd name="adj" fmla="val 4841"/>
            </a:avLst>
          </a:prstGeom>
          <a:solidFill>
            <a:schemeClr val="bg1">
              <a:lumMod val="75000"/>
              <a:alpha val="26356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251999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  <a:sym typeface="Noto Sans SC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398160" y="1614792"/>
            <a:ext cx="3542050" cy="655320"/>
          </a:xfrm>
          <a:prstGeom prst="roundRect">
            <a:avLst>
              <a:gd name="adj" fmla="val 4841"/>
            </a:avLst>
          </a:prstGeom>
          <a:solidFill>
            <a:schemeClr val="bg1">
              <a:lumMod val="75000"/>
              <a:alpha val="26356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251999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  <a:sym typeface="Noto Sans SC"/>
            </a:endParaRPr>
          </a:p>
        </p:txBody>
      </p:sp>
      <p:sp>
        <p:nvSpPr>
          <p:cNvPr id="2" name="文本占位符 7"/>
          <p:cNvSpPr txBox="1"/>
          <p:nvPr/>
        </p:nvSpPr>
        <p:spPr>
          <a:xfrm>
            <a:off x="258542" y="319229"/>
            <a:ext cx="8013003" cy="422131"/>
          </a:xfrm>
          <a:prstGeom prst="rect">
            <a:avLst/>
          </a:prstGeom>
        </p:spPr>
        <p:txBody>
          <a:bodyPr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智舱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|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Wonder Sans Bold" panose="00000500000000000000" charset="0"/>
              </a:rPr>
              <a:t>SafetyMind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86080" y="1612265"/>
            <a:ext cx="3554095" cy="5105400"/>
          </a:xfrm>
          <a:prstGeom prst="roundRect">
            <a:avLst>
              <a:gd name="adj" fmla="val 2850"/>
            </a:avLst>
          </a:prstGeom>
          <a:noFill/>
          <a:ln w="9525">
            <a:solidFill>
              <a:schemeClr val="tx1">
                <a:lumMod val="50000"/>
                <a:lumOff val="50000"/>
                <a:alpha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98562" y="1903228"/>
            <a:ext cx="25622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+mn-cs"/>
              </a:rPr>
              <a:t>给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+mn-cs"/>
              </a:rPr>
              <a:t>AI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+mn-cs"/>
              </a:rPr>
              <a:t>的用户数据上把“隐私锁”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98562" y="1696182"/>
            <a:ext cx="2359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AI-SAFE Privacy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72122" y="1768268"/>
            <a:ext cx="681355" cy="398780"/>
            <a:chOff x="623" y="2574"/>
            <a:chExt cx="694" cy="669"/>
          </a:xfrm>
        </p:grpSpPr>
        <p:sp>
          <p:nvSpPr>
            <p:cNvPr id="28" name="文本框 27"/>
            <p:cNvSpPr txBox="1"/>
            <p:nvPr/>
          </p:nvSpPr>
          <p:spPr>
            <a:xfrm>
              <a:off x="623" y="2574"/>
              <a:ext cx="688" cy="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01</a:t>
              </a:r>
              <a:endPara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29" name="直线连接符 13"/>
            <p:cNvCxnSpPr/>
            <p:nvPr/>
          </p:nvCxnSpPr>
          <p:spPr>
            <a:xfrm>
              <a:off x="1317" y="2654"/>
              <a:ext cx="0" cy="506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圆角矩形 9"/>
          <p:cNvSpPr/>
          <p:nvPr/>
        </p:nvSpPr>
        <p:spPr>
          <a:xfrm>
            <a:off x="4314825" y="1612265"/>
            <a:ext cx="3593465" cy="5105400"/>
          </a:xfrm>
          <a:prstGeom prst="roundRect">
            <a:avLst>
              <a:gd name="adj" fmla="val 2850"/>
            </a:avLst>
          </a:prstGeom>
          <a:noFill/>
          <a:ln w="9525">
            <a:solidFill>
              <a:schemeClr val="tx1">
                <a:lumMod val="50000"/>
                <a:lumOff val="50000"/>
                <a:alpha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351560" y="1768268"/>
            <a:ext cx="675640" cy="398780"/>
            <a:chOff x="532" y="2574"/>
            <a:chExt cx="688" cy="669"/>
          </a:xfrm>
        </p:grpSpPr>
        <p:sp>
          <p:nvSpPr>
            <p:cNvPr id="26" name="文本框 25"/>
            <p:cNvSpPr txBox="1"/>
            <p:nvPr/>
          </p:nvSpPr>
          <p:spPr>
            <a:xfrm>
              <a:off x="532" y="2574"/>
              <a:ext cx="688" cy="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02</a:t>
              </a:r>
              <a:endPara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27" name="直线连接符 13"/>
            <p:cNvCxnSpPr/>
            <p:nvPr/>
          </p:nvCxnSpPr>
          <p:spPr>
            <a:xfrm>
              <a:off x="1217" y="2654"/>
              <a:ext cx="0" cy="506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圆角矩形 15"/>
          <p:cNvSpPr/>
          <p:nvPr/>
        </p:nvSpPr>
        <p:spPr>
          <a:xfrm>
            <a:off x="8245475" y="1612265"/>
            <a:ext cx="3656965" cy="5104765"/>
          </a:xfrm>
          <a:prstGeom prst="roundRect">
            <a:avLst>
              <a:gd name="adj" fmla="val 2850"/>
            </a:avLst>
          </a:prstGeom>
          <a:noFill/>
          <a:ln w="9525">
            <a:solidFill>
              <a:schemeClr val="tx1">
                <a:lumMod val="50000"/>
                <a:lumOff val="50000"/>
                <a:alpha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8239826" y="1768268"/>
            <a:ext cx="675640" cy="398780"/>
            <a:chOff x="507" y="2574"/>
            <a:chExt cx="688" cy="669"/>
          </a:xfrm>
        </p:grpSpPr>
        <p:sp>
          <p:nvSpPr>
            <p:cNvPr id="24" name="文本框 23"/>
            <p:cNvSpPr txBox="1"/>
            <p:nvPr/>
          </p:nvSpPr>
          <p:spPr>
            <a:xfrm>
              <a:off x="507" y="2574"/>
              <a:ext cx="688" cy="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03</a:t>
              </a:r>
              <a:endPara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25" name="直线连接符 13"/>
            <p:cNvCxnSpPr/>
            <p:nvPr/>
          </p:nvCxnSpPr>
          <p:spPr>
            <a:xfrm>
              <a:off x="1192" y="2654"/>
              <a:ext cx="0" cy="506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文本框 29"/>
          <p:cNvSpPr txBox="1"/>
          <p:nvPr/>
        </p:nvSpPr>
        <p:spPr>
          <a:xfrm>
            <a:off x="505427" y="5917352"/>
            <a:ext cx="3315335" cy="4201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隐私数据保护率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≥ 99%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064813" y="1903466"/>
            <a:ext cx="26514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+mn-cs"/>
                <a:sym typeface="+mn-ea"/>
              </a:rPr>
              <a:t>可识别 AI 执行时的“网络攻击”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064813" y="1696420"/>
            <a:ext cx="2359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AI-SAFE Harness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986417" y="1903466"/>
            <a:ext cx="2733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+mn-cs"/>
              </a:rPr>
              <a:t>给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+mn-cs"/>
              </a:rPr>
              <a:t>AI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+mn-cs"/>
              </a:rPr>
              <a:t>的运行装上“监控雷达”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986417" y="1696420"/>
            <a:ext cx="2359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AI-SAFE Monitor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473078" y="5917352"/>
            <a:ext cx="3315335" cy="4201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网络攻击与异常调用检测率 ≥99%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414616" y="5917352"/>
            <a:ext cx="3319038" cy="4201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异常事件覆盖率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≥ 99%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TextBox 2"/>
          <p:cNvSpPr txBox="1"/>
          <p:nvPr/>
        </p:nvSpPr>
        <p:spPr>
          <a:xfrm>
            <a:off x="1610700" y="865616"/>
            <a:ext cx="9559666" cy="349250"/>
          </a:xfrm>
          <a:prstGeom prst="rect">
            <a:avLst/>
          </a:prstGeom>
          <a:noFill/>
          <a:ln>
            <a:noFill/>
          </a:ln>
        </p:spPr>
        <p:txBody>
          <a:bodyPr wrap="square" lIns="42862" tIns="21431" rIns="42862" bIns="21431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/>
              </a:rPr>
              <a:t>让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/>
              </a:rPr>
              <a:t>AI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/>
              </a:rPr>
              <a:t>上车，更要让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/>
              </a:rPr>
              <a:t>AI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/>
              </a:rPr>
              <a:t>安全上车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1" name="TextBox 3"/>
          <p:cNvSpPr txBox="1"/>
          <p:nvPr/>
        </p:nvSpPr>
        <p:spPr>
          <a:xfrm>
            <a:off x="2043958" y="1209786"/>
            <a:ext cx="8693150" cy="264795"/>
          </a:xfrm>
          <a:prstGeom prst="rect">
            <a:avLst/>
          </a:prstGeom>
          <a:noFill/>
          <a:ln>
            <a:noFill/>
          </a:ln>
        </p:spPr>
        <p:txBody>
          <a:bodyPr wrap="square" lIns="42862" tIns="21431" rIns="42862" bIns="2143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  <a:sym typeface="Arial" panose="020B0604020202020204"/>
              </a:rPr>
              <a:t>Privacy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  <a:sym typeface="Arial" panose="020B0604020202020204"/>
              </a:rPr>
              <a:t>护得住用户隐私，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  <a:sym typeface="Arial" panose="020B0604020202020204"/>
              </a:rPr>
              <a:t>Harness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  <a:sym typeface="Arial" panose="020B0604020202020204"/>
              </a:rPr>
              <a:t>能识别网络攻击，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  <a:sym typeface="Arial" panose="020B0604020202020204"/>
              </a:rPr>
              <a:t>Monitor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  <a:sym typeface="Arial" panose="020B0604020202020204"/>
              </a:rPr>
              <a:t>看得见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  <a:sym typeface="Arial" panose="020B0604020202020204"/>
              </a:rPr>
              <a:t>AI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  <a:sym typeface="Arial" panose="020B0604020202020204"/>
              </a:rPr>
              <a:t>运行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18465" y="4420870"/>
            <a:ext cx="1378585" cy="1129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</a:rPr>
              <a:t>终端隐私数据保护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微软雅黑" panose="020B0503020204020204" pitchFamily="34" charset="-122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微软雅黑" panose="020B0503020204020204" pitchFamily="34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车云链路传输防护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微软雅黑" panose="020B0503020204020204" pitchFamily="34" charset="-122"/>
              <a:sym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隐私管理“仪表盘”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05460" y="3946036"/>
            <a:ext cx="3305810" cy="301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每一次数据流转，都在加密可信通道上进行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424680" y="4420870"/>
            <a:ext cx="1088390" cy="1129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</a:rPr>
              <a:t>非侵入接入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微软雅黑" panose="020B0503020204020204" pitchFamily="34" charset="-122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</a:rPr>
              <a:t>                                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微软雅黑" panose="020B0503020204020204" pitchFamily="34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</a:rPr>
              <a:t>易于扩展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微软雅黑" panose="020B0503020204020204" pitchFamily="34" charset="-122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</a:rPr>
              <a:t> 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微软雅黑" panose="020B0503020204020204" pitchFamily="34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</a:rPr>
              <a:t>统一安全管理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4424045" y="3946036"/>
            <a:ext cx="3305810" cy="301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每一次调用和行动，都必须可信、可控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350250" y="4380865"/>
            <a:ext cx="1191895" cy="11290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全链路可观察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微软雅黑" panose="020B0503020204020204" pitchFamily="34" charset="-122"/>
              <a:sym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异常实时发现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微软雅黑" panose="020B0503020204020204" pitchFamily="34" charset="-122"/>
              <a:sym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事件可追溯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微软雅黑" panose="020B0503020204020204" pitchFamily="34" charset="-122"/>
              <a:sym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安全数据集回流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 Light" panose="020B0502040204020203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383905" y="3946036"/>
            <a:ext cx="3305810" cy="301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异常及时发现、原因快速定位、全过程可追溯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98145" y="2452334"/>
            <a:ext cx="3395345" cy="1371600"/>
            <a:chOff x="627" y="3544"/>
            <a:chExt cx="5347" cy="2160"/>
          </a:xfrm>
        </p:grpSpPr>
        <p:pic>
          <p:nvPicPr>
            <p:cNvPr id="136" name="图片 1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27" y="3544"/>
              <a:ext cx="3402" cy="2064"/>
            </a:xfrm>
            <a:prstGeom prst="roundRect">
              <a:avLst>
                <a:gd name="adj" fmla="val 2308"/>
              </a:avLst>
            </a:prstGeom>
          </p:spPr>
        </p:pic>
        <p:grpSp>
          <p:nvGrpSpPr>
            <p:cNvPr id="137" name="组合 136"/>
            <p:cNvGrpSpPr/>
            <p:nvPr/>
          </p:nvGrpSpPr>
          <p:grpSpPr>
            <a:xfrm>
              <a:off x="1642" y="3640"/>
              <a:ext cx="4332" cy="2064"/>
              <a:chOff x="9030" y="3075"/>
              <a:chExt cx="15536" cy="7800"/>
            </a:xfrm>
          </p:grpSpPr>
          <p:sp>
            <p:nvSpPr>
              <p:cNvPr id="138" name="car-to-white-fade"/>
              <p:cNvSpPr>
                <a:spLocks noGrp="1"/>
              </p:cNvSpPr>
              <p:nvPr/>
            </p:nvSpPr>
            <p:spPr>
              <a:xfrm>
                <a:off x="11070" y="3075"/>
                <a:ext cx="3900" cy="7800"/>
              </a:xfrm>
              <a:prstGeom prst="rect">
                <a:avLst/>
              </a:pr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0"/>
              </a:gradFill>
              <a:ln w="0">
                <a:noFill/>
                <a:prstDash val="solid"/>
              </a:ln>
            </p:spPr>
          </p:sp>
          <p:sp>
            <p:nvSpPr>
              <p:cNvPr id="139" name="data-path-1"/>
              <p:cNvSpPr>
                <a:spLocks noGrp="1"/>
              </p:cNvSpPr>
              <p:nvPr/>
            </p:nvSpPr>
            <p:spPr>
              <a:xfrm>
                <a:off x="11730" y="4110"/>
                <a:ext cx="3030" cy="2460"/>
              </a:xfrm>
              <a:prstGeom prst="line">
                <a:avLst/>
              </a:prstGeom>
              <a:noFill/>
              <a:ln w="19050">
                <a:solidFill>
                  <a:srgbClr val="FF6C6C"/>
                </a:solidFill>
                <a:prstDash val="dash"/>
              </a:ln>
            </p:spPr>
          </p:sp>
          <p:sp>
            <p:nvSpPr>
              <p:cNvPr id="140" name="path-end-1"/>
              <p:cNvSpPr>
                <a:spLocks noGrp="1"/>
              </p:cNvSpPr>
              <p:nvPr/>
            </p:nvSpPr>
            <p:spPr>
              <a:xfrm>
                <a:off x="14640" y="6510"/>
                <a:ext cx="135" cy="135"/>
              </a:xfrm>
              <a:prstGeom prst="ellipse">
                <a:avLst/>
              </a:prstGeom>
              <a:solidFill>
                <a:srgbClr val="ED1C24"/>
              </a:solidFill>
              <a:ln w="4763">
                <a:solidFill>
                  <a:srgbClr val="ED1C24"/>
                </a:solidFill>
                <a:prstDash val="solid"/>
              </a:ln>
            </p:spPr>
          </p:sp>
          <p:sp>
            <p:nvSpPr>
              <p:cNvPr id="141" name="data-path-2"/>
              <p:cNvSpPr>
                <a:spLocks noGrp="1"/>
              </p:cNvSpPr>
              <p:nvPr/>
            </p:nvSpPr>
            <p:spPr>
              <a:xfrm>
                <a:off x="11730" y="5400"/>
                <a:ext cx="3030" cy="1410"/>
              </a:xfrm>
              <a:prstGeom prst="line">
                <a:avLst/>
              </a:prstGeom>
              <a:noFill/>
              <a:ln w="19050">
                <a:solidFill>
                  <a:srgbClr val="FF6C6C"/>
                </a:solidFill>
                <a:prstDash val="dash"/>
              </a:ln>
            </p:spPr>
          </p:sp>
          <p:sp>
            <p:nvSpPr>
              <p:cNvPr id="142" name="path-end-2"/>
              <p:cNvSpPr>
                <a:spLocks noGrp="1"/>
              </p:cNvSpPr>
              <p:nvPr/>
            </p:nvSpPr>
            <p:spPr>
              <a:xfrm>
                <a:off x="14640" y="6750"/>
                <a:ext cx="135" cy="135"/>
              </a:xfrm>
              <a:prstGeom prst="ellipse">
                <a:avLst/>
              </a:prstGeom>
              <a:solidFill>
                <a:srgbClr val="ED1C24"/>
              </a:solidFill>
              <a:ln w="4763">
                <a:solidFill>
                  <a:srgbClr val="ED1C24"/>
                </a:solidFill>
                <a:prstDash val="solid"/>
              </a:ln>
            </p:spPr>
          </p:sp>
          <p:sp>
            <p:nvSpPr>
              <p:cNvPr id="143" name="data-path-3"/>
              <p:cNvSpPr>
                <a:spLocks noGrp="1"/>
              </p:cNvSpPr>
              <p:nvPr/>
            </p:nvSpPr>
            <p:spPr>
              <a:xfrm>
                <a:off x="11730" y="6720"/>
                <a:ext cx="3030" cy="390"/>
              </a:xfrm>
              <a:prstGeom prst="line">
                <a:avLst/>
              </a:prstGeom>
              <a:noFill/>
              <a:ln w="19050">
                <a:solidFill>
                  <a:srgbClr val="FF6C6C"/>
                </a:solidFill>
                <a:prstDash val="dash"/>
              </a:ln>
            </p:spPr>
          </p:sp>
          <p:sp>
            <p:nvSpPr>
              <p:cNvPr id="144" name="path-end-3"/>
              <p:cNvSpPr>
                <a:spLocks noGrp="1"/>
              </p:cNvSpPr>
              <p:nvPr/>
            </p:nvSpPr>
            <p:spPr>
              <a:xfrm>
                <a:off x="14640" y="7050"/>
                <a:ext cx="135" cy="135"/>
              </a:xfrm>
              <a:prstGeom prst="ellipse">
                <a:avLst/>
              </a:prstGeom>
              <a:solidFill>
                <a:srgbClr val="ED1C24"/>
              </a:solidFill>
              <a:ln w="4763">
                <a:solidFill>
                  <a:srgbClr val="ED1C24"/>
                </a:solidFill>
                <a:prstDash val="solid"/>
              </a:ln>
            </p:spPr>
          </p:sp>
          <p:sp>
            <p:nvSpPr>
              <p:cNvPr id="145" name="data-path-4"/>
              <p:cNvSpPr>
                <a:spLocks noGrp="1"/>
              </p:cNvSpPr>
              <p:nvPr/>
            </p:nvSpPr>
            <p:spPr>
              <a:xfrm flipV="1">
                <a:off x="11730" y="7470"/>
                <a:ext cx="3030" cy="660"/>
              </a:xfrm>
              <a:prstGeom prst="line">
                <a:avLst/>
              </a:prstGeom>
              <a:noFill/>
              <a:ln w="19050">
                <a:solidFill>
                  <a:srgbClr val="FF6C6C"/>
                </a:solidFill>
                <a:prstDash val="dash"/>
              </a:ln>
            </p:spPr>
          </p:sp>
          <p:sp>
            <p:nvSpPr>
              <p:cNvPr id="146" name="path-end-4"/>
              <p:cNvSpPr>
                <a:spLocks noGrp="1"/>
              </p:cNvSpPr>
              <p:nvPr/>
            </p:nvSpPr>
            <p:spPr>
              <a:xfrm>
                <a:off x="14640" y="7410"/>
                <a:ext cx="135" cy="135"/>
              </a:xfrm>
              <a:prstGeom prst="ellipse">
                <a:avLst/>
              </a:prstGeom>
              <a:solidFill>
                <a:srgbClr val="ED1C24"/>
              </a:solidFill>
              <a:ln w="4763">
                <a:solidFill>
                  <a:srgbClr val="ED1C24"/>
                </a:solidFill>
                <a:prstDash val="solid"/>
              </a:ln>
            </p:spPr>
          </p:sp>
          <p:sp>
            <p:nvSpPr>
              <p:cNvPr id="147" name="data-path-5"/>
              <p:cNvSpPr>
                <a:spLocks noGrp="1"/>
              </p:cNvSpPr>
              <p:nvPr/>
            </p:nvSpPr>
            <p:spPr>
              <a:xfrm flipV="1">
                <a:off x="11730" y="7800"/>
                <a:ext cx="3030" cy="1740"/>
              </a:xfrm>
              <a:prstGeom prst="line">
                <a:avLst/>
              </a:prstGeom>
              <a:noFill/>
              <a:ln w="19050">
                <a:solidFill>
                  <a:srgbClr val="FF6C6C"/>
                </a:solidFill>
                <a:prstDash val="dash"/>
              </a:ln>
            </p:spPr>
          </p:sp>
          <p:sp>
            <p:nvSpPr>
              <p:cNvPr id="148" name="path-end-5"/>
              <p:cNvSpPr>
                <a:spLocks noGrp="1"/>
              </p:cNvSpPr>
              <p:nvPr/>
            </p:nvSpPr>
            <p:spPr>
              <a:xfrm>
                <a:off x="14640" y="7740"/>
                <a:ext cx="135" cy="135"/>
              </a:xfrm>
              <a:prstGeom prst="ellipse">
                <a:avLst/>
              </a:prstGeom>
              <a:solidFill>
                <a:srgbClr val="ED1C24"/>
              </a:solidFill>
              <a:ln w="4763">
                <a:solidFill>
                  <a:srgbClr val="ED1C24"/>
                </a:solidFill>
                <a:prstDash val="solid"/>
              </a:ln>
            </p:spPr>
          </p:sp>
          <p:sp>
            <p:nvSpPr>
              <p:cNvPr id="149" name="quantum-channel-arrow"/>
              <p:cNvSpPr>
                <a:spLocks noGrp="1"/>
              </p:cNvSpPr>
              <p:nvPr/>
            </p:nvSpPr>
            <p:spPr>
              <a:xfrm>
                <a:off x="16920" y="6660"/>
                <a:ext cx="4027" cy="750"/>
              </a:xfrm>
              <a:prstGeom prst="rightArrow">
                <a:avLst/>
              </a:prstGeom>
              <a:solidFill>
                <a:srgbClr val="C00000">
                  <a:alpha val="13000"/>
                </a:srgbClr>
              </a:solidFill>
              <a:ln w="0">
                <a:noFill/>
                <a:prstDash val="solid"/>
              </a:ln>
            </p:spPr>
          </p:sp>
          <p:sp>
            <p:nvSpPr>
              <p:cNvPr id="150" name="privacy-control-card"/>
              <p:cNvSpPr>
                <a:spLocks noGrp="1"/>
              </p:cNvSpPr>
              <p:nvPr/>
            </p:nvSpPr>
            <p:spPr>
              <a:xfrm>
                <a:off x="14682" y="3915"/>
                <a:ext cx="5250" cy="1590"/>
              </a:xfrm>
              <a:prstGeom prst="roundRect">
                <a:avLst>
                  <a:gd name="adj" fmla="val 22642"/>
                </a:avLst>
              </a:prstGeom>
              <a:solidFill>
                <a:srgbClr val="FFFFFF"/>
              </a:solidFill>
              <a:ln w="14288">
                <a:solidFill>
                  <a:srgbClr val="F2CCCC"/>
                </a:solidFill>
                <a:prstDash val="solid"/>
              </a:ln>
            </p:spPr>
          </p:sp>
          <p:sp>
            <p:nvSpPr>
              <p:cNvPr id="151" name="privacy-control-title"/>
              <p:cNvSpPr>
                <a:spLocks noGrp="1"/>
              </p:cNvSpPr>
              <p:nvPr/>
            </p:nvSpPr>
            <p:spPr>
              <a:xfrm>
                <a:off x="15282" y="4080"/>
                <a:ext cx="4050" cy="58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38100" tIns="19050" rIns="38100" bIns="1905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2025" b="1">
                    <a:solidFill>
                      <a:srgbClr val="E11B2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隐私控制层</a:t>
                </a:r>
                <a:endPara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152" name="privacy-control-body"/>
              <p:cNvSpPr>
                <a:spLocks noGrp="1"/>
              </p:cNvSpPr>
              <p:nvPr/>
            </p:nvSpPr>
            <p:spPr>
              <a:xfrm>
                <a:off x="14937" y="4755"/>
                <a:ext cx="4740" cy="5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38100" tIns="19050" rIns="38100" bIns="1905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350" b="1">
                    <a:solidFill>
                      <a:srgbClr val="22222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pPr>
                <a:r>
                  <a:rPr kumimoji="0" sz="400" b="1" i="0" u="none" strike="noStrike" kern="1200" cap="none" spc="0" normalizeH="0" baseline="0" noProof="0">
                    <a:ln>
                      <a:noFill/>
                    </a:ln>
                    <a:solidFill>
                      <a:srgbClr val="222222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谁可以访问  |  访问多少  |  如何传输</a:t>
                </a:r>
                <a:endParaRPr kumimoji="0" sz="4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pic>
            <p:nvPicPr>
              <p:cNvPr id="153" name="图片 15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802" y="5785"/>
                <a:ext cx="2879" cy="2630"/>
              </a:xfrm>
              <a:prstGeom prst="rect">
                <a:avLst/>
              </a:prstGeom>
            </p:spPr>
          </p:pic>
          <p:pic>
            <p:nvPicPr>
              <p:cNvPr id="154" name="图片 15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43" y="6570"/>
                <a:ext cx="870" cy="870"/>
              </a:xfrm>
              <a:prstGeom prst="rect">
                <a:avLst/>
              </a:prstGeom>
            </p:spPr>
          </p:pic>
          <p:sp>
            <p:nvSpPr>
              <p:cNvPr id="155" name="quantum-channel-label"/>
              <p:cNvSpPr>
                <a:spLocks noGrp="1"/>
              </p:cNvSpPr>
              <p:nvPr/>
            </p:nvSpPr>
            <p:spPr>
              <a:xfrm>
                <a:off x="17880" y="7515"/>
                <a:ext cx="2625" cy="5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38100" tIns="19050" rIns="38100" bIns="1905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E11B2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量子安全通道</a:t>
                </a:r>
                <a:endPara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156" name="camera-card"/>
              <p:cNvSpPr>
                <a:spLocks noGrp="1"/>
              </p:cNvSpPr>
              <p:nvPr/>
            </p:nvSpPr>
            <p:spPr>
              <a:xfrm>
                <a:off x="9450" y="3661"/>
                <a:ext cx="3030" cy="869"/>
              </a:xfrm>
              <a:prstGeom prst="roundRect">
                <a:avLst>
                  <a:gd name="adj" fmla="val 22414"/>
                </a:avLst>
              </a:prstGeom>
              <a:solidFill>
                <a:srgbClr val="FFFFFF"/>
              </a:solidFill>
              <a:ln w="14288">
                <a:solidFill>
                  <a:srgbClr val="EEEEEE"/>
                </a:solidFill>
                <a:prstDash val="soli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6">
                <a:srgbClr val="FFFFFF"/>
              </a:effectRef>
              <a:fontRef idx="major"/>
            </p:style>
          </p:sp>
          <p:pic>
            <p:nvPicPr>
              <p:cNvPr id="157" name="图片 15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30" y="3780"/>
                <a:ext cx="645" cy="645"/>
              </a:xfrm>
              <a:prstGeom prst="rect">
                <a:avLst/>
              </a:prstGeom>
            </p:spPr>
          </p:pic>
          <p:sp>
            <p:nvSpPr>
              <p:cNvPr id="158" name="camera-label"/>
              <p:cNvSpPr>
                <a:spLocks noGrp="1"/>
              </p:cNvSpPr>
              <p:nvPr/>
            </p:nvSpPr>
            <p:spPr>
              <a:xfrm>
                <a:off x="10320" y="3735"/>
                <a:ext cx="1500" cy="7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19050" bIns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0">
                    <a:solidFill>
                      <a:srgbClr val="171717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kumimoji="0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171717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Arial" panose="020B0604020202020204"/>
                    <a:cs typeface="Arial" panose="020B0604020202020204"/>
                  </a:rPr>
                  <a:t>Camera</a:t>
                </a:r>
                <a:endPara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171717"/>
                  </a:solidFill>
                  <a:effectLst/>
                  <a:uLnTx/>
                  <a:uFillTx/>
                  <a:latin typeface="Century Gothic" panose="020B0502020202020204" pitchFamily="34" charset="0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9" name="mic-card"/>
              <p:cNvSpPr>
                <a:spLocks noGrp="1"/>
              </p:cNvSpPr>
              <p:nvPr/>
            </p:nvSpPr>
            <p:spPr>
              <a:xfrm>
                <a:off x="9030" y="4965"/>
                <a:ext cx="2840" cy="869"/>
              </a:xfrm>
              <a:prstGeom prst="roundRect">
                <a:avLst>
                  <a:gd name="adj" fmla="val 22414"/>
                </a:avLst>
              </a:prstGeom>
              <a:solidFill>
                <a:srgbClr val="FFFFFF"/>
              </a:solidFill>
              <a:ln w="14288">
                <a:solidFill>
                  <a:srgbClr val="EEEEEE"/>
                </a:solidFill>
                <a:prstDash val="soli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6">
                <a:srgbClr val="FFFFFF"/>
              </a:effectRef>
              <a:fontRef idx="major"/>
            </p:style>
          </p:sp>
          <p:pic>
            <p:nvPicPr>
              <p:cNvPr id="160" name="图片 15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10" y="5085"/>
                <a:ext cx="645" cy="645"/>
              </a:xfrm>
              <a:prstGeom prst="rect">
                <a:avLst/>
              </a:prstGeom>
            </p:spPr>
          </p:pic>
          <p:sp>
            <p:nvSpPr>
              <p:cNvPr id="161" name="mic-label"/>
              <p:cNvSpPr>
                <a:spLocks noGrp="1"/>
              </p:cNvSpPr>
              <p:nvPr/>
            </p:nvSpPr>
            <p:spPr>
              <a:xfrm>
                <a:off x="9900" y="5040"/>
                <a:ext cx="1380" cy="7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19050" bIns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0">
                    <a:solidFill>
                      <a:srgbClr val="171717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kumimoji="0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171717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Arial" panose="020B0604020202020204"/>
                    <a:cs typeface="Arial" panose="020B0604020202020204"/>
                  </a:rPr>
                  <a:t>Mic</a:t>
                </a:r>
                <a:endPara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171717"/>
                  </a:solidFill>
                  <a:effectLst/>
                  <a:uLnTx/>
                  <a:uFillTx/>
                  <a:latin typeface="Century Gothic" panose="020B0502020202020204" pitchFamily="34" charset="0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62" name="location-card"/>
              <p:cNvSpPr>
                <a:spLocks noGrp="1"/>
              </p:cNvSpPr>
              <p:nvPr/>
            </p:nvSpPr>
            <p:spPr>
              <a:xfrm>
                <a:off x="9224" y="6283"/>
                <a:ext cx="3260" cy="869"/>
              </a:xfrm>
              <a:prstGeom prst="roundRect">
                <a:avLst>
                  <a:gd name="adj" fmla="val 22414"/>
                </a:avLst>
              </a:prstGeom>
              <a:solidFill>
                <a:srgbClr val="FFFFFF"/>
              </a:solidFill>
              <a:ln w="14288">
                <a:solidFill>
                  <a:srgbClr val="EEEEEE"/>
                </a:solidFill>
                <a:prstDash val="soli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6">
                <a:srgbClr val="FFFFFF"/>
              </a:effectRef>
              <a:fontRef idx="major"/>
            </p:style>
          </p:sp>
          <p:pic>
            <p:nvPicPr>
              <p:cNvPr id="163" name="图片 162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05" y="6405"/>
                <a:ext cx="645" cy="645"/>
              </a:xfrm>
              <a:prstGeom prst="rect">
                <a:avLst/>
              </a:prstGeom>
            </p:spPr>
          </p:pic>
          <p:sp>
            <p:nvSpPr>
              <p:cNvPr id="164" name="location-label"/>
              <p:cNvSpPr>
                <a:spLocks noGrp="1"/>
              </p:cNvSpPr>
              <p:nvPr/>
            </p:nvSpPr>
            <p:spPr>
              <a:xfrm>
                <a:off x="10095" y="6360"/>
                <a:ext cx="1515" cy="7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19050" bIns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0">
                    <a:solidFill>
                      <a:srgbClr val="171717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kumimoji="0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171717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Arial" panose="020B0604020202020204"/>
                    <a:cs typeface="Arial" panose="020B0604020202020204"/>
                  </a:rPr>
                  <a:t>Location</a:t>
                </a:r>
                <a:endPara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171717"/>
                  </a:solidFill>
                  <a:effectLst/>
                  <a:uLnTx/>
                  <a:uFillTx/>
                  <a:latin typeface="Century Gothic" panose="020B0502020202020204" pitchFamily="34" charset="0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65" name="contacts-card"/>
              <p:cNvSpPr>
                <a:spLocks noGrp="1"/>
              </p:cNvSpPr>
              <p:nvPr/>
            </p:nvSpPr>
            <p:spPr>
              <a:xfrm>
                <a:off x="9346" y="7651"/>
                <a:ext cx="3317" cy="869"/>
              </a:xfrm>
              <a:prstGeom prst="roundRect">
                <a:avLst>
                  <a:gd name="adj" fmla="val 22414"/>
                </a:avLst>
              </a:prstGeom>
              <a:solidFill>
                <a:srgbClr val="FFFFFF"/>
              </a:solidFill>
              <a:ln w="14288">
                <a:solidFill>
                  <a:srgbClr val="EEEEEE"/>
                </a:solidFill>
                <a:prstDash val="soli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6">
                <a:srgbClr val="FFFFFF"/>
              </a:effectRef>
              <a:fontRef idx="major"/>
            </p:style>
          </p:sp>
          <p:pic>
            <p:nvPicPr>
              <p:cNvPr id="166" name="图片 165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25" y="7770"/>
                <a:ext cx="645" cy="645"/>
              </a:xfrm>
              <a:prstGeom prst="rect">
                <a:avLst/>
              </a:prstGeom>
            </p:spPr>
          </p:pic>
          <p:sp>
            <p:nvSpPr>
              <p:cNvPr id="167" name="contacts-label"/>
              <p:cNvSpPr>
                <a:spLocks noGrp="1"/>
              </p:cNvSpPr>
              <p:nvPr/>
            </p:nvSpPr>
            <p:spPr>
              <a:xfrm>
                <a:off x="10215" y="7725"/>
                <a:ext cx="1485" cy="7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19050" bIns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0">
                    <a:solidFill>
                      <a:srgbClr val="171717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kumimoji="0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171717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Arial" panose="020B0604020202020204"/>
                    <a:cs typeface="Arial" panose="020B0604020202020204"/>
                  </a:rPr>
                  <a:t>Contacts</a:t>
                </a:r>
                <a:endPara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171717"/>
                  </a:solidFill>
                  <a:effectLst/>
                  <a:uLnTx/>
                  <a:uFillTx/>
                  <a:latin typeface="Century Gothic" panose="020B0502020202020204" pitchFamily="34" charset="0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68" name="memory-card"/>
              <p:cNvSpPr>
                <a:spLocks noGrp="1"/>
              </p:cNvSpPr>
              <p:nvPr/>
            </p:nvSpPr>
            <p:spPr>
              <a:xfrm>
                <a:off x="9478" y="9031"/>
                <a:ext cx="3812" cy="869"/>
              </a:xfrm>
              <a:prstGeom prst="roundRect">
                <a:avLst>
                  <a:gd name="adj" fmla="val 22414"/>
                </a:avLst>
              </a:prstGeom>
              <a:solidFill>
                <a:srgbClr val="FFFFFF"/>
              </a:solidFill>
              <a:ln w="14288">
                <a:solidFill>
                  <a:srgbClr val="EEEEEE"/>
                </a:solidFill>
                <a:prstDash val="soli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6">
                <a:srgbClr val="FFFFFF"/>
              </a:effectRef>
              <a:fontRef idx="major"/>
            </p:style>
          </p:sp>
          <p:pic>
            <p:nvPicPr>
              <p:cNvPr id="169" name="图片 168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60" y="9150"/>
                <a:ext cx="645" cy="645"/>
              </a:xfrm>
              <a:prstGeom prst="rect">
                <a:avLst/>
              </a:prstGeom>
            </p:spPr>
          </p:pic>
          <p:sp>
            <p:nvSpPr>
              <p:cNvPr id="170" name="memory-label"/>
              <p:cNvSpPr>
                <a:spLocks noGrp="1"/>
              </p:cNvSpPr>
              <p:nvPr/>
            </p:nvSpPr>
            <p:spPr>
              <a:xfrm>
                <a:off x="10350" y="9105"/>
                <a:ext cx="1605" cy="7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19050" bIns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0">
                    <a:solidFill>
                      <a:srgbClr val="171717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kumimoji="0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171717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Arial" panose="020B0604020202020204"/>
                    <a:cs typeface="Arial" panose="020B0604020202020204"/>
                  </a:rPr>
                  <a:t>Memory</a:t>
                </a:r>
                <a:endPara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171717"/>
                  </a:solidFill>
                  <a:effectLst/>
                  <a:uLnTx/>
                  <a:uFillTx/>
                  <a:latin typeface="Century Gothic" panose="020B0502020202020204" pitchFamily="34" charset="0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71" name="downstream-panel"/>
              <p:cNvSpPr>
                <a:spLocks noGrp="1"/>
              </p:cNvSpPr>
              <p:nvPr/>
            </p:nvSpPr>
            <p:spPr>
              <a:xfrm>
                <a:off x="21146" y="4110"/>
                <a:ext cx="3420" cy="6150"/>
              </a:xfrm>
              <a:prstGeom prst="roundRect">
                <a:avLst>
                  <a:gd name="adj" fmla="val 10526"/>
                </a:avLst>
              </a:prstGeom>
              <a:solidFill>
                <a:srgbClr val="FFFFFF"/>
              </a:solidFill>
              <a:ln w="14288">
                <a:solidFill>
                  <a:srgbClr val="F5F5F5"/>
                </a:solidFill>
                <a:prstDash val="solid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7">
                <a:srgbClr val="FFFFFF"/>
              </a:effectRef>
              <a:fontRef idx="major"/>
            </p:style>
          </p:sp>
          <p:sp>
            <p:nvSpPr>
              <p:cNvPr id="172" name="ai-agents-title"/>
              <p:cNvSpPr>
                <a:spLocks noGrp="1"/>
              </p:cNvSpPr>
              <p:nvPr/>
            </p:nvSpPr>
            <p:spPr>
              <a:xfrm>
                <a:off x="21596" y="4339"/>
                <a:ext cx="2520" cy="57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38100" tIns="19050" rIns="38100" bIns="1905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725" b="1">
                    <a:solidFill>
                      <a:srgbClr val="D7192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Arial" panose="020B0604020202020204"/>
                    <a:cs typeface="Arial" panose="020B0604020202020204"/>
                  </a:rPr>
                  <a:t>AI Agents</a:t>
                </a:r>
                <a:endPara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Arial" panose="020B0604020202020204"/>
                  <a:cs typeface="Arial" panose="020B0604020202020204"/>
                </a:endParaRPr>
              </a:p>
            </p:txBody>
          </p:sp>
          <p:pic>
            <p:nvPicPr>
              <p:cNvPr id="173" name="图片 17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151" y="5130"/>
                <a:ext cx="1440" cy="1440"/>
              </a:xfrm>
              <a:prstGeom prst="rect">
                <a:avLst/>
              </a:prstGeom>
            </p:spPr>
          </p:pic>
          <p:sp>
            <p:nvSpPr>
              <p:cNvPr id="174" name="ai-agent-description"/>
              <p:cNvSpPr>
                <a:spLocks noGrp="1"/>
              </p:cNvSpPr>
              <p:nvPr/>
            </p:nvSpPr>
            <p:spPr>
              <a:xfrm>
                <a:off x="21184" y="6661"/>
                <a:ext cx="3160" cy="9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350" b="1">
                    <a:solidFill>
                      <a:srgbClr val="26262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pPr>
                <a:r>
                  <a:rPr kumimoji="0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只获得完成任务所需的最小信息</a:t>
                </a:r>
                <a:endParaRPr kumimoji="0" sz="5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175" name="panel-divider"/>
              <p:cNvSpPr>
                <a:spLocks noGrp="1"/>
              </p:cNvSpPr>
              <p:nvPr/>
            </p:nvSpPr>
            <p:spPr>
              <a:xfrm>
                <a:off x="21566" y="8175"/>
                <a:ext cx="2550" cy="0"/>
              </a:xfrm>
              <a:prstGeom prst="line">
                <a:avLst/>
              </a:prstGeom>
              <a:noFill/>
              <a:ln w="14288">
                <a:solidFill>
                  <a:srgbClr val="DCDCDC"/>
                </a:solidFill>
                <a:prstDash val="dash"/>
              </a:ln>
            </p:spPr>
          </p:sp>
          <p:pic>
            <p:nvPicPr>
              <p:cNvPr id="176" name="图片 175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271" y="8010"/>
                <a:ext cx="1170" cy="1170"/>
              </a:xfrm>
              <a:prstGeom prst="rect">
                <a:avLst/>
              </a:prstGeom>
            </p:spPr>
          </p:pic>
          <p:sp>
            <p:nvSpPr>
              <p:cNvPr id="177" name="cloud-service-label"/>
              <p:cNvSpPr>
                <a:spLocks noGrp="1"/>
              </p:cNvSpPr>
              <p:nvPr/>
            </p:nvSpPr>
            <p:spPr>
              <a:xfrm>
                <a:off x="21806" y="9300"/>
                <a:ext cx="1830" cy="57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38100" tIns="19050" rIns="38100" bIns="1905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725" b="1">
                    <a:solidFill>
                      <a:srgbClr val="22222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pPr>
                <a:r>
                  <a:rPr kumimoji="0" sz="500" b="0" i="0" u="none" strike="noStrike" kern="1200" cap="none" spc="0" normalizeH="0" baseline="0" noProof="0">
                    <a:ln>
                      <a:noFill/>
                    </a:ln>
                    <a:solidFill>
                      <a:srgbClr val="222222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云服务</a:t>
                </a:r>
                <a:endParaRPr kumimoji="0" sz="5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178" name="cloud-check"/>
              <p:cNvSpPr>
                <a:spLocks noGrp="1"/>
              </p:cNvSpPr>
              <p:nvPr/>
            </p:nvSpPr>
            <p:spPr>
              <a:xfrm>
                <a:off x="23486" y="9255"/>
                <a:ext cx="630" cy="6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38100" tIns="19050" rIns="38100" bIns="1905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2175" b="1">
                    <a:solidFill>
                      <a:srgbClr val="E11B22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kumimoji="0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E11B22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Arial" panose="020B0604020202020204"/>
                    <a:cs typeface="Arial" panose="020B0604020202020204"/>
                  </a:rPr>
                  <a:t>✓</a:t>
                </a: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E11B22"/>
                  </a:solidFill>
                  <a:effectLst/>
                  <a:uLnTx/>
                  <a:uFillTx/>
                  <a:latin typeface="Century Gothic" panose="020B0502020202020204" pitchFamily="34" charset="0"/>
                  <a:ea typeface="Arial" panose="020B0604020202020204"/>
                  <a:cs typeface="Arial" panose="020B0604020202020204"/>
                </a:endParaRPr>
              </a:p>
            </p:txBody>
          </p:sp>
        </p:grpSp>
      </p:grpSp>
      <p:grpSp>
        <p:nvGrpSpPr>
          <p:cNvPr id="209" name="组合 208"/>
          <p:cNvGrpSpPr/>
          <p:nvPr/>
        </p:nvGrpSpPr>
        <p:grpSpPr>
          <a:xfrm>
            <a:off x="4472305" y="2534249"/>
            <a:ext cx="3327400" cy="1217930"/>
            <a:chOff x="4295" y="977"/>
            <a:chExt cx="10092" cy="3967"/>
          </a:xfrm>
        </p:grpSpPr>
        <p:sp>
          <p:nvSpPr>
            <p:cNvPr id="210" name="Shape 0"/>
            <p:cNvSpPr/>
            <p:nvPr>
              <p:custDataLst>
                <p:tags r:id="rId11"/>
              </p:custDataLst>
            </p:nvPr>
          </p:nvSpPr>
          <p:spPr>
            <a:xfrm>
              <a:off x="4297" y="1740"/>
              <a:ext cx="1902" cy="773"/>
            </a:xfrm>
            <a:prstGeom prst="roundRect">
              <a:avLst>
                <a:gd name="adj" fmla="val 9756"/>
              </a:avLst>
            </a:prstGeom>
            <a:solidFill>
              <a:srgbClr val="FFFFFF">
                <a:alpha val="97000"/>
              </a:srgbClr>
            </a:solidFill>
            <a:ln w="9525">
              <a:solidFill>
                <a:srgbClr val="E97979"/>
              </a:solidFill>
              <a:prstDash val="solid"/>
            </a:ln>
            <a:effectLst>
              <a:outerShdw blurRad="44450" dist="12700" dir="2700000" algn="bl" rotWithShape="0">
                <a:srgbClr val="B85B60">
                  <a:alpha val="7000"/>
                </a:srgbClr>
              </a:outerShdw>
            </a:effectLst>
          </p:spPr>
        </p:sp>
        <p:pic>
          <p:nvPicPr>
            <p:cNvPr id="211" name="Image 0" descr="preencoded.png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462" y="1853"/>
              <a:ext cx="546" cy="546"/>
            </a:xfrm>
            <a:prstGeom prst="rect">
              <a:avLst/>
            </a:prstGeom>
          </p:spPr>
        </p:pic>
        <p:sp>
          <p:nvSpPr>
            <p:cNvPr id="212" name="Text 1"/>
            <p:cNvSpPr/>
            <p:nvPr>
              <p:custDataLst>
                <p:tags r:id="rId15"/>
              </p:custDataLst>
            </p:nvPr>
          </p:nvSpPr>
          <p:spPr>
            <a:xfrm>
              <a:off x="5008" y="1865"/>
              <a:ext cx="1206" cy="25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17191F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0"/>
                </a:rPr>
                <a:t>身份</a:t>
              </a: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17191F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13" name="Text 2"/>
            <p:cNvSpPr/>
            <p:nvPr>
              <p:custDataLst>
                <p:tags r:id="rId16"/>
              </p:custDataLst>
            </p:nvPr>
          </p:nvSpPr>
          <p:spPr>
            <a:xfrm>
              <a:off x="5008" y="2183"/>
              <a:ext cx="1272" cy="1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24262A"/>
                  </a:solidFill>
                  <a:effectLst/>
                  <a:uLnTx/>
                  <a:uFillTx/>
                  <a:latin typeface="Century Gothic" panose="020B0502020202020204" pitchFamily="34" charset="0"/>
                  <a:ea typeface="Aptos" pitchFamily="34" charset="-122"/>
                  <a:cs typeface="Aptos" pitchFamily="34" charset="-120"/>
                </a:rPr>
                <a:t>Identity</a:t>
              </a: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24262A"/>
                </a:solidFill>
                <a:effectLst/>
                <a:uLnTx/>
                <a:uFillTx/>
                <a:latin typeface="Century Gothic" panose="020B0502020202020204" pitchFamily="34" charset="0"/>
                <a:ea typeface="Aptos" pitchFamily="34" charset="-122"/>
                <a:cs typeface="Aptos" pitchFamily="34" charset="-120"/>
              </a:endParaRPr>
            </a:p>
          </p:txBody>
        </p:sp>
        <p:sp>
          <p:nvSpPr>
            <p:cNvPr id="214" name="Shape 6"/>
            <p:cNvSpPr/>
            <p:nvPr>
              <p:custDataLst>
                <p:tags r:id="rId17"/>
              </p:custDataLst>
            </p:nvPr>
          </p:nvSpPr>
          <p:spPr>
            <a:xfrm>
              <a:off x="4295" y="2671"/>
              <a:ext cx="1904" cy="773"/>
            </a:xfrm>
            <a:prstGeom prst="roundRect">
              <a:avLst>
                <a:gd name="adj" fmla="val 9756"/>
              </a:avLst>
            </a:prstGeom>
            <a:solidFill>
              <a:srgbClr val="FFFFFF">
                <a:alpha val="97000"/>
              </a:srgbClr>
            </a:solidFill>
            <a:ln w="9525">
              <a:solidFill>
                <a:srgbClr val="E97979"/>
              </a:solidFill>
              <a:prstDash val="solid"/>
            </a:ln>
            <a:effectLst>
              <a:outerShdw blurRad="44450" dist="12700" dir="2700000" algn="bl" rotWithShape="0">
                <a:srgbClr val="B85B60">
                  <a:alpha val="7000"/>
                </a:srgbClr>
              </a:outerShdw>
            </a:effectLst>
          </p:spPr>
        </p:sp>
        <p:pic>
          <p:nvPicPr>
            <p:cNvPr id="215" name="Image 2" descr="preencoded.png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4460" y="2784"/>
              <a:ext cx="546" cy="546"/>
            </a:xfrm>
            <a:prstGeom prst="rect">
              <a:avLst/>
            </a:prstGeom>
          </p:spPr>
        </p:pic>
        <p:sp>
          <p:nvSpPr>
            <p:cNvPr id="216" name="Text 7"/>
            <p:cNvSpPr/>
            <p:nvPr>
              <p:custDataLst>
                <p:tags r:id="rId21"/>
              </p:custDataLst>
            </p:nvPr>
          </p:nvSpPr>
          <p:spPr>
            <a:xfrm>
              <a:off x="5006" y="2796"/>
              <a:ext cx="1206" cy="25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17191F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0"/>
                </a:rPr>
                <a:t>权限</a:t>
              </a: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17191F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17" name="Text 8"/>
            <p:cNvSpPr/>
            <p:nvPr>
              <p:custDataLst>
                <p:tags r:id="rId22"/>
              </p:custDataLst>
            </p:nvPr>
          </p:nvSpPr>
          <p:spPr>
            <a:xfrm>
              <a:off x="5006" y="3088"/>
              <a:ext cx="1272" cy="1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srgbClr val="24262A"/>
                  </a:solidFill>
                  <a:effectLst/>
                  <a:uLnTx/>
                  <a:uFillTx/>
                  <a:latin typeface="Century Gothic" panose="020B0502020202020204" pitchFamily="34" charset="0"/>
                  <a:ea typeface="Aptos" pitchFamily="34" charset="-122"/>
                  <a:cs typeface="Aptos" pitchFamily="34" charset="-120"/>
                </a:rPr>
                <a:t>Permission</a:t>
              </a:r>
              <a:endPara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24262A"/>
                </a:solidFill>
                <a:effectLst/>
                <a:uLnTx/>
                <a:uFillTx/>
                <a:latin typeface="Century Gothic" panose="020B0502020202020204" pitchFamily="34" charset="0"/>
                <a:ea typeface="Aptos" pitchFamily="34" charset="-122"/>
                <a:cs typeface="Aptos" pitchFamily="34" charset="-120"/>
              </a:endParaRPr>
            </a:p>
          </p:txBody>
        </p:sp>
        <p:sp>
          <p:nvSpPr>
            <p:cNvPr id="218" name="Shape 9"/>
            <p:cNvSpPr/>
            <p:nvPr>
              <p:custDataLst>
                <p:tags r:id="rId23"/>
              </p:custDataLst>
            </p:nvPr>
          </p:nvSpPr>
          <p:spPr>
            <a:xfrm>
              <a:off x="4295" y="3537"/>
              <a:ext cx="1904" cy="773"/>
            </a:xfrm>
            <a:prstGeom prst="roundRect">
              <a:avLst>
                <a:gd name="adj" fmla="val 9756"/>
              </a:avLst>
            </a:prstGeom>
            <a:solidFill>
              <a:srgbClr val="FFFFFF">
                <a:alpha val="97000"/>
              </a:srgbClr>
            </a:solidFill>
            <a:ln w="9525">
              <a:solidFill>
                <a:srgbClr val="E97979"/>
              </a:solidFill>
              <a:prstDash val="solid"/>
            </a:ln>
            <a:effectLst>
              <a:outerShdw blurRad="44450" dist="12700" dir="2700000" algn="bl" rotWithShape="0">
                <a:srgbClr val="B85B60">
                  <a:alpha val="7000"/>
                </a:srgbClr>
              </a:outerShdw>
            </a:effectLst>
          </p:spPr>
        </p:sp>
        <p:pic>
          <p:nvPicPr>
            <p:cNvPr id="219" name="Image 3" descr="preencoded.png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" y="3650"/>
              <a:ext cx="546" cy="546"/>
            </a:xfrm>
            <a:prstGeom prst="rect">
              <a:avLst/>
            </a:prstGeom>
          </p:spPr>
        </p:pic>
        <p:sp>
          <p:nvSpPr>
            <p:cNvPr id="220" name="Text 10"/>
            <p:cNvSpPr/>
            <p:nvPr>
              <p:custDataLst>
                <p:tags r:id="rId27"/>
              </p:custDataLst>
            </p:nvPr>
          </p:nvSpPr>
          <p:spPr>
            <a:xfrm>
              <a:off x="5006" y="3662"/>
              <a:ext cx="1206" cy="25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17191F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0"/>
                </a:rPr>
                <a:t>参数</a:t>
              </a: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17191F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21" name="Text 11"/>
            <p:cNvSpPr/>
            <p:nvPr>
              <p:custDataLst>
                <p:tags r:id="rId28"/>
              </p:custDataLst>
            </p:nvPr>
          </p:nvSpPr>
          <p:spPr>
            <a:xfrm>
              <a:off x="5006" y="3955"/>
              <a:ext cx="1272" cy="1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srgbClr val="24262A"/>
                  </a:solidFill>
                  <a:effectLst/>
                  <a:uLnTx/>
                  <a:uFillTx/>
                  <a:latin typeface="Century Gothic" panose="020B0502020202020204" pitchFamily="34" charset="0"/>
                  <a:ea typeface="Aptos" pitchFamily="34" charset="-122"/>
                  <a:cs typeface="Aptos" pitchFamily="34" charset="-120"/>
                </a:rPr>
                <a:t>Parameter</a:t>
              </a:r>
              <a:endPara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24262A"/>
                </a:solidFill>
                <a:effectLst/>
                <a:uLnTx/>
                <a:uFillTx/>
                <a:latin typeface="Century Gothic" panose="020B0502020202020204" pitchFamily="34" charset="0"/>
                <a:ea typeface="Aptos" pitchFamily="34" charset="-122"/>
                <a:cs typeface="Aptos" pitchFamily="34" charset="-120"/>
              </a:endParaRPr>
            </a:p>
          </p:txBody>
        </p:sp>
        <p:sp>
          <p:nvSpPr>
            <p:cNvPr id="222" name="Shape 15"/>
            <p:cNvSpPr/>
            <p:nvPr/>
          </p:nvSpPr>
          <p:spPr>
            <a:xfrm>
              <a:off x="7182" y="1062"/>
              <a:ext cx="3910" cy="3882"/>
            </a:xfrm>
            <a:prstGeom prst="roundRect">
              <a:avLst>
                <a:gd name="adj" fmla="val 2427"/>
              </a:avLst>
            </a:prstGeom>
            <a:solidFill>
              <a:srgbClr val="FFFFFF">
                <a:alpha val="99000"/>
              </a:srgbClr>
            </a:solidFill>
            <a:ln w="6985">
              <a:solidFill>
                <a:srgbClr val="F7D6D6"/>
              </a:solidFill>
              <a:prstDash val="solid"/>
            </a:ln>
            <a:effectLst>
              <a:outerShdw blurRad="44450" dist="12700" dir="2700000" algn="bl" rotWithShape="0">
                <a:srgbClr val="B85B60">
                  <a:alpha val="7000"/>
                </a:srgbClr>
              </a:outerShdw>
            </a:effectLst>
          </p:spPr>
        </p:sp>
        <p:sp>
          <p:nvSpPr>
            <p:cNvPr id="223" name="Shape 16"/>
            <p:cNvSpPr/>
            <p:nvPr/>
          </p:nvSpPr>
          <p:spPr>
            <a:xfrm>
              <a:off x="7182" y="1062"/>
              <a:ext cx="3910" cy="1112"/>
            </a:xfrm>
            <a:prstGeom prst="roundRect">
              <a:avLst>
                <a:gd name="adj" fmla="val 8475"/>
              </a:avLst>
            </a:prstGeom>
            <a:solidFill>
              <a:srgbClr val="FFFFFF">
                <a:alpha val="99000"/>
              </a:srgbClr>
            </a:solidFill>
            <a:ln w="8890">
              <a:solidFill>
                <a:srgbClr val="E97979"/>
              </a:solidFill>
              <a:prstDash val="solid"/>
            </a:ln>
          </p:spPr>
        </p:sp>
        <p:sp>
          <p:nvSpPr>
            <p:cNvPr id="224" name="Text 17"/>
            <p:cNvSpPr/>
            <p:nvPr/>
          </p:nvSpPr>
          <p:spPr>
            <a:xfrm>
              <a:off x="7521" y="1260"/>
              <a:ext cx="3231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D51F2B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0"/>
                </a:rPr>
                <a:t>AI</a:t>
              </a: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D51F2B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0"/>
                </a:rPr>
                <a:t>探针</a:t>
              </a: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D51F2B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0"/>
                </a:rPr>
                <a:t> / </a:t>
              </a: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D51F2B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0"/>
                </a:rPr>
                <a:t>安全</a:t>
              </a: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D51F2B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0"/>
                </a:rPr>
                <a:t>引擎skill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51F2B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25" name="Text 18"/>
            <p:cNvSpPr/>
            <p:nvPr/>
          </p:nvSpPr>
          <p:spPr>
            <a:xfrm>
              <a:off x="7502" y="1785"/>
              <a:ext cx="3402" cy="31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202226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0"/>
                </a:rPr>
                <a:t>非侵入插件</a:t>
              </a: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202226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0"/>
                </a:rPr>
                <a:t> / </a:t>
              </a:r>
              <a:r>
                <a:rPr kumimoji="0" lang="zh-CN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202226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0"/>
                </a:rPr>
                <a:t>行为安全裁决</a:t>
              </a:r>
              <a:endParaRPr kumimoji="0" lang="zh-CN" alt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202226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26" name="Shape 19"/>
            <p:cNvSpPr/>
            <p:nvPr/>
          </p:nvSpPr>
          <p:spPr>
            <a:xfrm>
              <a:off x="7370" y="1712"/>
              <a:ext cx="3533" cy="0"/>
            </a:xfrm>
            <a:prstGeom prst="line">
              <a:avLst/>
            </a:prstGeom>
            <a:noFill/>
            <a:ln w="8255">
              <a:solidFill>
                <a:srgbClr val="F6DEDE"/>
              </a:solidFill>
              <a:prstDash val="solid"/>
              <a:headEnd type="none"/>
            </a:ln>
          </p:spPr>
        </p:sp>
        <p:pic>
          <p:nvPicPr>
            <p:cNvPr id="227" name="Image 5" descr="Imagegen detail asset: red shield, white check shield, guard rails and pedestal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798" y="2398"/>
              <a:ext cx="2677" cy="2215"/>
            </a:xfrm>
            <a:prstGeom prst="rect">
              <a:avLst/>
            </a:prstGeom>
          </p:spPr>
        </p:pic>
        <p:sp>
          <p:nvSpPr>
            <p:cNvPr id="247" name="Shape 70"/>
            <p:cNvSpPr/>
            <p:nvPr/>
          </p:nvSpPr>
          <p:spPr>
            <a:xfrm>
              <a:off x="12266" y="977"/>
              <a:ext cx="2121" cy="3951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0160">
              <a:solidFill>
                <a:srgbClr val="E97979"/>
              </a:solidFill>
              <a:prstDash val="solid"/>
            </a:ln>
            <a:effectLst>
              <a:outerShdw blurRad="44450" dist="12700" dir="2700000" algn="bl" rotWithShape="0">
                <a:srgbClr val="B85B60">
                  <a:alpha val="7000"/>
                </a:srgbClr>
              </a:outerShdw>
            </a:effectLst>
          </p:spPr>
        </p:sp>
        <p:sp>
          <p:nvSpPr>
            <p:cNvPr id="248" name="Shape 71"/>
            <p:cNvSpPr/>
            <p:nvPr/>
          </p:nvSpPr>
          <p:spPr>
            <a:xfrm>
              <a:off x="12506" y="1344"/>
              <a:ext cx="537" cy="537"/>
            </a:xfrm>
            <a:prstGeom prst="ellipse">
              <a:avLst/>
            </a:prstGeom>
            <a:solidFill>
              <a:srgbClr val="12A83A"/>
            </a:solidFill>
            <a:ln w="12700">
              <a:solidFill>
                <a:srgbClr val="12A83A"/>
              </a:solidFill>
              <a:prstDash val="solid"/>
            </a:ln>
          </p:spPr>
        </p:sp>
        <p:pic>
          <p:nvPicPr>
            <p:cNvPr id="249" name="Image 6" descr="preencoded.png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2600" y="1439"/>
              <a:ext cx="349" cy="349"/>
            </a:xfrm>
            <a:prstGeom prst="rect">
              <a:avLst/>
            </a:prstGeom>
          </p:spPr>
        </p:pic>
        <p:sp>
          <p:nvSpPr>
            <p:cNvPr id="250" name="Text 72"/>
            <p:cNvSpPr/>
            <p:nvPr/>
          </p:nvSpPr>
          <p:spPr>
            <a:xfrm>
              <a:off x="13282" y="1316"/>
              <a:ext cx="895" cy="26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35000" lnSpcReduction="2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7191F"/>
                  </a:solidFill>
                  <a:effectLst/>
                  <a:uLnTx/>
                  <a:uFillTx/>
                  <a:latin typeface="Century Gothic" panose="020B0502020202020204" pitchFamily="34" charset="0"/>
                  <a:ea typeface="Aptos Display" pitchFamily="34" charset="-122"/>
                  <a:cs typeface="Aptos Display" pitchFamily="34" charset="-120"/>
                </a:rPr>
                <a:t>Allow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7191F"/>
                </a:solidFill>
                <a:effectLst/>
                <a:uLnTx/>
                <a:uFillTx/>
                <a:latin typeface="Century Gothic" panose="020B0502020202020204" pitchFamily="34" charset="0"/>
                <a:ea typeface="Aptos Display" pitchFamily="34" charset="-122"/>
                <a:cs typeface="Aptos Display" pitchFamily="34" charset="-120"/>
              </a:endParaRPr>
            </a:p>
          </p:txBody>
        </p:sp>
        <p:sp>
          <p:nvSpPr>
            <p:cNvPr id="251" name="Text 73"/>
            <p:cNvSpPr/>
            <p:nvPr/>
          </p:nvSpPr>
          <p:spPr>
            <a:xfrm>
              <a:off x="13282" y="1655"/>
              <a:ext cx="895" cy="2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45000" lnSpcReduction="2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428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0"/>
                </a:rPr>
                <a:t>允许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428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52" name="Shape 74"/>
            <p:cNvSpPr/>
            <p:nvPr/>
          </p:nvSpPr>
          <p:spPr>
            <a:xfrm>
              <a:off x="12376" y="2117"/>
              <a:ext cx="1903" cy="0"/>
            </a:xfrm>
            <a:prstGeom prst="line">
              <a:avLst/>
            </a:prstGeom>
            <a:noFill/>
            <a:ln w="9525">
              <a:solidFill>
                <a:srgbClr val="E99A9A"/>
              </a:solidFill>
              <a:prstDash val="solid"/>
              <a:headEnd type="none"/>
            </a:ln>
          </p:spPr>
        </p:sp>
        <p:sp>
          <p:nvSpPr>
            <p:cNvPr id="253" name="Text 76"/>
            <p:cNvSpPr/>
            <p:nvPr/>
          </p:nvSpPr>
          <p:spPr>
            <a:xfrm>
              <a:off x="13281" y="2377"/>
              <a:ext cx="895" cy="26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35000" lnSpcReduction="2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7191F"/>
                  </a:solidFill>
                  <a:effectLst/>
                  <a:uLnTx/>
                  <a:uFillTx/>
                  <a:latin typeface="Century Gothic" panose="020B0502020202020204" pitchFamily="34" charset="0"/>
                  <a:ea typeface="Aptos Display" pitchFamily="34" charset="-122"/>
                  <a:cs typeface="Aptos Display" pitchFamily="34" charset="-120"/>
                </a:rPr>
                <a:t>Limit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7191F"/>
                </a:solidFill>
                <a:effectLst/>
                <a:uLnTx/>
                <a:uFillTx/>
                <a:latin typeface="Century Gothic" panose="020B0502020202020204" pitchFamily="34" charset="0"/>
                <a:ea typeface="Aptos Display" pitchFamily="34" charset="-122"/>
                <a:cs typeface="Aptos Display" pitchFamily="34" charset="-120"/>
              </a:endParaRPr>
            </a:p>
          </p:txBody>
        </p:sp>
        <p:sp>
          <p:nvSpPr>
            <p:cNvPr id="254" name="Text 77"/>
            <p:cNvSpPr/>
            <p:nvPr/>
          </p:nvSpPr>
          <p:spPr>
            <a:xfrm>
              <a:off x="13281" y="2716"/>
              <a:ext cx="895" cy="2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45000" lnSpcReduction="2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428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0"/>
                </a:rPr>
                <a:t>受限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428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55" name="Shape 78"/>
            <p:cNvSpPr/>
            <p:nvPr/>
          </p:nvSpPr>
          <p:spPr>
            <a:xfrm>
              <a:off x="12376" y="3141"/>
              <a:ext cx="1903" cy="0"/>
            </a:xfrm>
            <a:prstGeom prst="line">
              <a:avLst/>
            </a:prstGeom>
            <a:noFill/>
            <a:ln w="9525">
              <a:solidFill>
                <a:srgbClr val="E99A9A"/>
              </a:solidFill>
              <a:prstDash val="solid"/>
              <a:headEnd type="none"/>
            </a:ln>
          </p:spPr>
        </p:sp>
        <p:sp>
          <p:nvSpPr>
            <p:cNvPr id="256" name="Shape 79"/>
            <p:cNvSpPr/>
            <p:nvPr/>
          </p:nvSpPr>
          <p:spPr>
            <a:xfrm>
              <a:off x="12506" y="3436"/>
              <a:ext cx="537" cy="537"/>
            </a:xfrm>
            <a:prstGeom prst="ellipse">
              <a:avLst/>
            </a:prstGeom>
            <a:solidFill>
              <a:srgbClr val="FF7815"/>
            </a:solidFill>
            <a:ln w="12700">
              <a:solidFill>
                <a:srgbClr val="FF7815"/>
              </a:solidFill>
              <a:prstDash val="solid"/>
            </a:ln>
          </p:spPr>
        </p:sp>
        <p:pic>
          <p:nvPicPr>
            <p:cNvPr id="257" name="Image 8" descr="preencoded.png"/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2576" y="3507"/>
              <a:ext cx="396" cy="396"/>
            </a:xfrm>
            <a:prstGeom prst="rect">
              <a:avLst/>
            </a:prstGeom>
          </p:spPr>
        </p:pic>
        <p:sp>
          <p:nvSpPr>
            <p:cNvPr id="258" name="Text 80"/>
            <p:cNvSpPr/>
            <p:nvPr/>
          </p:nvSpPr>
          <p:spPr>
            <a:xfrm>
              <a:off x="13282" y="3378"/>
              <a:ext cx="895" cy="26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35000" lnSpcReduction="2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7191F"/>
                  </a:solidFill>
                  <a:effectLst/>
                  <a:uLnTx/>
                  <a:uFillTx/>
                  <a:latin typeface="Century Gothic" panose="020B0502020202020204" pitchFamily="34" charset="0"/>
                  <a:ea typeface="Aptos Display" pitchFamily="34" charset="-122"/>
                  <a:cs typeface="Aptos Display" pitchFamily="34" charset="-120"/>
                </a:rPr>
                <a:t>Confirm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7191F"/>
                </a:solidFill>
                <a:effectLst/>
                <a:uLnTx/>
                <a:uFillTx/>
                <a:latin typeface="Century Gothic" panose="020B0502020202020204" pitchFamily="34" charset="0"/>
                <a:ea typeface="Aptos Display" pitchFamily="34" charset="-122"/>
                <a:cs typeface="Aptos Display" pitchFamily="34" charset="-120"/>
              </a:endParaRPr>
            </a:p>
          </p:txBody>
        </p:sp>
        <p:sp>
          <p:nvSpPr>
            <p:cNvPr id="259" name="Text 81"/>
            <p:cNvSpPr/>
            <p:nvPr/>
          </p:nvSpPr>
          <p:spPr>
            <a:xfrm>
              <a:off x="13282" y="3717"/>
              <a:ext cx="895" cy="2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45000" lnSpcReduction="2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428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0"/>
                </a:rPr>
                <a:t>需确认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428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60" name="Shape 82"/>
            <p:cNvSpPr/>
            <p:nvPr/>
          </p:nvSpPr>
          <p:spPr>
            <a:xfrm>
              <a:off x="12314" y="4208"/>
              <a:ext cx="1903" cy="0"/>
            </a:xfrm>
            <a:prstGeom prst="line">
              <a:avLst/>
            </a:prstGeom>
            <a:noFill/>
            <a:ln w="9525">
              <a:solidFill>
                <a:srgbClr val="E99A9A"/>
              </a:solidFill>
              <a:prstDash val="solid"/>
              <a:headEnd type="none"/>
            </a:ln>
          </p:spPr>
        </p:sp>
        <p:sp>
          <p:nvSpPr>
            <p:cNvPr id="261" name="Shape 83"/>
            <p:cNvSpPr/>
            <p:nvPr/>
          </p:nvSpPr>
          <p:spPr>
            <a:xfrm>
              <a:off x="12492" y="4320"/>
              <a:ext cx="537" cy="537"/>
            </a:xfrm>
            <a:prstGeom prst="ellipse">
              <a:avLst/>
            </a:prstGeom>
            <a:solidFill>
              <a:srgbClr val="E4101B"/>
            </a:solidFill>
            <a:ln w="12700">
              <a:solidFill>
                <a:srgbClr val="E4101B"/>
              </a:solidFill>
              <a:prstDash val="solid"/>
            </a:ln>
          </p:spPr>
        </p:sp>
        <p:pic>
          <p:nvPicPr>
            <p:cNvPr id="262" name="Image 9" descr="preencoded.png"/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2600" y="4444"/>
              <a:ext cx="349" cy="349"/>
            </a:xfrm>
            <a:prstGeom prst="rect">
              <a:avLst/>
            </a:prstGeom>
          </p:spPr>
        </p:pic>
        <p:sp>
          <p:nvSpPr>
            <p:cNvPr id="263" name="Text 84"/>
            <p:cNvSpPr/>
            <p:nvPr/>
          </p:nvSpPr>
          <p:spPr>
            <a:xfrm>
              <a:off x="13269" y="4280"/>
              <a:ext cx="895" cy="26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35000" lnSpcReduction="2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7191F"/>
                  </a:solidFill>
                  <a:effectLst/>
                  <a:uLnTx/>
                  <a:uFillTx/>
                  <a:latin typeface="Century Gothic" panose="020B0502020202020204" pitchFamily="34" charset="0"/>
                  <a:ea typeface="Aptos Display" pitchFamily="34" charset="-122"/>
                  <a:cs typeface="Aptos Display" pitchFamily="34" charset="-120"/>
                </a:rPr>
                <a:t>Block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7191F"/>
                </a:solidFill>
                <a:effectLst/>
                <a:uLnTx/>
                <a:uFillTx/>
                <a:latin typeface="Century Gothic" panose="020B0502020202020204" pitchFamily="34" charset="0"/>
                <a:ea typeface="Aptos Display" pitchFamily="34" charset="-122"/>
                <a:cs typeface="Aptos Display" pitchFamily="34" charset="-120"/>
              </a:endParaRPr>
            </a:p>
          </p:txBody>
        </p:sp>
        <p:sp>
          <p:nvSpPr>
            <p:cNvPr id="264" name="Text 85"/>
            <p:cNvSpPr/>
            <p:nvPr/>
          </p:nvSpPr>
          <p:spPr>
            <a:xfrm>
              <a:off x="13269" y="4565"/>
              <a:ext cx="894" cy="26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47500" lnSpcReduction="2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428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0"/>
                </a:rPr>
                <a:t>阻止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428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pic>
          <p:nvPicPr>
            <p:cNvPr id="265" name="图片 264" descr="受限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2492" y="2381"/>
              <a:ext cx="551" cy="551"/>
            </a:xfrm>
            <a:prstGeom prst="rect">
              <a:avLst/>
            </a:prstGeom>
          </p:spPr>
        </p:pic>
        <p:cxnSp>
          <p:nvCxnSpPr>
            <p:cNvPr id="266" name="曲线连接符 265"/>
            <p:cNvCxnSpPr>
              <a:stCxn id="210" idx="3"/>
              <a:endCxn id="222" idx="1"/>
            </p:cNvCxnSpPr>
            <p:nvPr/>
          </p:nvCxnSpPr>
          <p:spPr>
            <a:xfrm>
              <a:off x="6199" y="2127"/>
              <a:ext cx="983" cy="876"/>
            </a:xfrm>
            <a:prstGeom prst="curvedConnector3">
              <a:avLst>
                <a:gd name="adj1" fmla="val 50051"/>
              </a:avLst>
            </a:prstGeom>
            <a:ln w="6350">
              <a:solidFill>
                <a:srgbClr val="C00000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7" name="曲线连接符 266"/>
            <p:cNvCxnSpPr>
              <a:stCxn id="214" idx="3"/>
            </p:cNvCxnSpPr>
            <p:nvPr/>
          </p:nvCxnSpPr>
          <p:spPr>
            <a:xfrm flipV="1">
              <a:off x="6199" y="3040"/>
              <a:ext cx="936" cy="17"/>
            </a:xfrm>
            <a:prstGeom prst="curvedConnector3">
              <a:avLst>
                <a:gd name="adj1" fmla="val 50000"/>
              </a:avLst>
            </a:prstGeom>
            <a:ln w="6350">
              <a:solidFill>
                <a:srgbClr val="C00000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8" name="曲线连接符 267"/>
            <p:cNvCxnSpPr>
              <a:endCxn id="222" idx="1"/>
            </p:cNvCxnSpPr>
            <p:nvPr/>
          </p:nvCxnSpPr>
          <p:spPr>
            <a:xfrm flipV="1">
              <a:off x="6197" y="3003"/>
              <a:ext cx="985" cy="952"/>
            </a:xfrm>
            <a:prstGeom prst="curvedConnector3">
              <a:avLst>
                <a:gd name="adj1" fmla="val 50051"/>
              </a:avLst>
            </a:prstGeom>
            <a:ln w="6350">
              <a:solidFill>
                <a:srgbClr val="C00000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9" name="曲线连接符 268"/>
            <p:cNvCxnSpPr>
              <a:stCxn id="222" idx="3"/>
              <a:endCxn id="248" idx="2"/>
            </p:cNvCxnSpPr>
            <p:nvPr/>
          </p:nvCxnSpPr>
          <p:spPr>
            <a:xfrm flipV="1">
              <a:off x="11091" y="1614"/>
              <a:ext cx="1414" cy="1390"/>
            </a:xfrm>
            <a:prstGeom prst="curvedConnector3">
              <a:avLst>
                <a:gd name="adj1" fmla="val 50000"/>
              </a:avLst>
            </a:prstGeom>
            <a:ln w="6350">
              <a:solidFill>
                <a:srgbClr val="C00000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0" name="曲线连接符 269"/>
            <p:cNvCxnSpPr>
              <a:stCxn id="222" idx="3"/>
              <a:endCxn id="265" idx="1"/>
            </p:cNvCxnSpPr>
            <p:nvPr/>
          </p:nvCxnSpPr>
          <p:spPr>
            <a:xfrm flipV="1">
              <a:off x="11091" y="2655"/>
              <a:ext cx="1400" cy="349"/>
            </a:xfrm>
            <a:prstGeom prst="curvedConnector3">
              <a:avLst>
                <a:gd name="adj1" fmla="val 50071"/>
              </a:avLst>
            </a:prstGeom>
            <a:ln w="6350">
              <a:solidFill>
                <a:srgbClr val="C00000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1" name="曲线连接符 270"/>
            <p:cNvCxnSpPr>
              <a:stCxn id="222" idx="3"/>
              <a:endCxn id="256" idx="2"/>
            </p:cNvCxnSpPr>
            <p:nvPr/>
          </p:nvCxnSpPr>
          <p:spPr>
            <a:xfrm>
              <a:off x="11091" y="3004"/>
              <a:ext cx="1414" cy="702"/>
            </a:xfrm>
            <a:prstGeom prst="curvedConnector3">
              <a:avLst>
                <a:gd name="adj1" fmla="val 50000"/>
              </a:avLst>
            </a:prstGeom>
            <a:ln w="6350">
              <a:solidFill>
                <a:srgbClr val="C00000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2" name="曲线连接符 271"/>
            <p:cNvCxnSpPr>
              <a:stCxn id="222" idx="3"/>
              <a:endCxn id="261" idx="2"/>
            </p:cNvCxnSpPr>
            <p:nvPr/>
          </p:nvCxnSpPr>
          <p:spPr>
            <a:xfrm>
              <a:off x="11091" y="3004"/>
              <a:ext cx="1400" cy="1585"/>
            </a:xfrm>
            <a:prstGeom prst="curvedConnector3">
              <a:avLst>
                <a:gd name="adj1" fmla="val 50071"/>
              </a:avLst>
            </a:prstGeom>
            <a:ln w="6350">
              <a:solidFill>
                <a:srgbClr val="C00000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8366366" y="2564235"/>
            <a:ext cx="3463441" cy="1304290"/>
            <a:chOff x="47" y="0"/>
            <a:chExt cx="22945" cy="864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7" y="0"/>
              <a:ext cx="22945" cy="8640"/>
            </a:xfrm>
            <a:prstGeom prst="rect">
              <a:avLst/>
            </a:prstGeom>
          </p:spPr>
        </p:pic>
        <p:sp>
          <p:nvSpPr>
            <p:cNvPr id="32" name="card-Intent"/>
            <p:cNvSpPr>
              <a:spLocks noGrp="1"/>
            </p:cNvSpPr>
            <p:nvPr>
              <p:custDataLst>
                <p:tags r:id="rId39"/>
              </p:custDataLst>
            </p:nvPr>
          </p:nvSpPr>
          <p:spPr>
            <a:xfrm>
              <a:off x="1845" y="1095"/>
              <a:ext cx="3345" cy="2055"/>
            </a:xfrm>
            <a:prstGeom prst="roundRect">
              <a:avLst>
                <a:gd name="adj" fmla="val 5839"/>
              </a:avLst>
            </a:prstGeom>
            <a:solidFill>
              <a:srgbClr val="FFFFFF"/>
            </a:solidFill>
            <a:ln w="28575">
              <a:solidFill>
                <a:srgbClr val="F3C8CC"/>
              </a:solidFill>
              <a:prstDash val="solid"/>
            </a:ln>
          </p:spPr>
        </p:sp>
        <p:sp>
          <p:nvSpPr>
            <p:cNvPr id="8" name="label-Intent"/>
            <p:cNvSpPr>
              <a:spLocks noGrp="1"/>
            </p:cNvSpPr>
            <p:nvPr>
              <p:custDataLst>
                <p:tags r:id="rId40"/>
              </p:custDataLst>
            </p:nvPr>
          </p:nvSpPr>
          <p:spPr>
            <a:xfrm>
              <a:off x="2874" y="1514"/>
              <a:ext cx="2718" cy="60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2100" b="1">
                  <a:solidFill>
                    <a:srgbClr val="111216"/>
                  </a:solidFill>
                </a:defRPr>
              </a:pPr>
              <a:r>
                <a:rPr kumimoji="0" sz="600" b="1" i="0" u="none" strike="noStrike" kern="1200" cap="none" spc="0" normalizeH="0" baseline="0" noProof="0">
                  <a:ln>
                    <a:noFill/>
                  </a:ln>
                  <a:solidFill>
                    <a:srgbClr val="111216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Intent</a:t>
              </a:r>
              <a:endParaRPr kumimoji="0" sz="600" b="1" i="0" u="none" strike="noStrike" kern="1200" cap="none" spc="0" normalizeH="0" baseline="0" noProof="0">
                <a:ln>
                  <a:noFill/>
                </a:ln>
                <a:solidFill>
                  <a:srgbClr val="111216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1" name="cn-Intent"/>
            <p:cNvSpPr>
              <a:spLocks noGrp="1"/>
            </p:cNvSpPr>
            <p:nvPr>
              <p:custDataLst>
                <p:tags r:id="rId41"/>
              </p:custDataLst>
            </p:nvPr>
          </p:nvSpPr>
          <p:spPr>
            <a:xfrm>
              <a:off x="2942" y="2309"/>
              <a:ext cx="2402" cy="53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555A61"/>
                  </a:solidFill>
                </a:defRPr>
              </a:pPr>
              <a:r>
                <a:rPr kumimoji="0" sz="600" b="1" i="0" u="none" strike="noStrike" kern="1200" cap="none" spc="0" normalizeH="0" baseline="0" noProof="0">
                  <a:ln>
                    <a:noFill/>
                  </a:ln>
                  <a:solidFill>
                    <a:srgbClr val="555A61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意图</a:t>
              </a:r>
              <a:endParaRPr kumimoji="0" sz="600" b="1" i="0" u="none" strike="noStrike" kern="1200" cap="none" spc="0" normalizeH="0" baseline="0" noProof="0">
                <a:ln>
                  <a:noFill/>
                </a:ln>
                <a:solidFill>
                  <a:srgbClr val="555A61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3" name="flow-0-shaft"/>
            <p:cNvSpPr>
              <a:spLocks noGrp="1"/>
            </p:cNvSpPr>
            <p:nvPr>
              <p:custDataLst>
                <p:tags r:id="rId42"/>
              </p:custDataLst>
            </p:nvPr>
          </p:nvSpPr>
          <p:spPr>
            <a:xfrm>
              <a:off x="5190" y="2085"/>
              <a:ext cx="405" cy="15"/>
            </a:xfrm>
            <a:prstGeom prst="line">
              <a:avLst/>
            </a:prstGeom>
            <a:noFill/>
            <a:ln w="6350">
              <a:solidFill>
                <a:srgbClr val="D61F2C"/>
              </a:solidFill>
              <a:prstDash val="solid"/>
            </a:ln>
          </p:spPr>
        </p:sp>
        <p:sp>
          <p:nvSpPr>
            <p:cNvPr id="46" name="flow-0-head"/>
            <p:cNvSpPr>
              <a:spLocks noGrp="1"/>
            </p:cNvSpPr>
            <p:nvPr>
              <p:custDataLst>
                <p:tags r:id="rId43"/>
              </p:custDataLst>
            </p:nvPr>
          </p:nvSpPr>
          <p:spPr>
            <a:xfrm rot="5400000">
              <a:off x="5490" y="1950"/>
              <a:ext cx="225" cy="270"/>
            </a:xfrm>
            <a:prstGeom prst="triangle">
              <a:avLst/>
            </a:prstGeom>
            <a:solidFill>
              <a:srgbClr val="D61F2C"/>
            </a:solidFill>
            <a:ln w="9525">
              <a:solidFill>
                <a:srgbClr val="D61F2C"/>
              </a:solidFill>
              <a:prstDash val="solid"/>
            </a:ln>
          </p:spPr>
        </p:sp>
        <p:sp>
          <p:nvSpPr>
            <p:cNvPr id="12" name="card-Plan"/>
            <p:cNvSpPr>
              <a:spLocks noGrp="1"/>
            </p:cNvSpPr>
            <p:nvPr>
              <p:custDataLst>
                <p:tags r:id="rId44"/>
              </p:custDataLst>
            </p:nvPr>
          </p:nvSpPr>
          <p:spPr>
            <a:xfrm>
              <a:off x="5715" y="1095"/>
              <a:ext cx="3345" cy="2055"/>
            </a:xfrm>
            <a:prstGeom prst="roundRect">
              <a:avLst>
                <a:gd name="adj" fmla="val 5839"/>
              </a:avLst>
            </a:prstGeom>
            <a:solidFill>
              <a:srgbClr val="FFFFFF"/>
            </a:solidFill>
            <a:ln w="28575">
              <a:solidFill>
                <a:srgbClr val="F3C8CC"/>
              </a:solidFill>
              <a:prstDash val="solid"/>
            </a:ln>
          </p:spPr>
        </p:sp>
        <p:sp>
          <p:nvSpPr>
            <p:cNvPr id="53" name="label-Plan"/>
            <p:cNvSpPr>
              <a:spLocks noGrp="1"/>
            </p:cNvSpPr>
            <p:nvPr>
              <p:custDataLst>
                <p:tags r:id="rId45"/>
              </p:custDataLst>
            </p:nvPr>
          </p:nvSpPr>
          <p:spPr>
            <a:xfrm>
              <a:off x="6463" y="1497"/>
              <a:ext cx="2852" cy="60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2100" b="1">
                  <a:solidFill>
                    <a:srgbClr val="111216"/>
                  </a:solidFill>
                </a:defRPr>
              </a:pPr>
              <a:r>
                <a:rPr kumimoji="0" sz="600" b="1" i="0" u="none" strike="noStrike" kern="1200" cap="none" spc="0" normalizeH="0" baseline="0" noProof="0">
                  <a:ln>
                    <a:noFill/>
                  </a:ln>
                  <a:solidFill>
                    <a:srgbClr val="111216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Plan</a:t>
              </a:r>
              <a:endParaRPr kumimoji="0" sz="600" b="1" i="0" u="none" strike="noStrike" kern="1200" cap="none" spc="0" normalizeH="0" baseline="0" noProof="0">
                <a:ln>
                  <a:noFill/>
                </a:ln>
                <a:solidFill>
                  <a:srgbClr val="111216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54" name="cn-Plan"/>
            <p:cNvSpPr>
              <a:spLocks noGrp="1"/>
            </p:cNvSpPr>
            <p:nvPr>
              <p:custDataLst>
                <p:tags r:id="rId46"/>
              </p:custDataLst>
            </p:nvPr>
          </p:nvSpPr>
          <p:spPr>
            <a:xfrm>
              <a:off x="6761" y="2309"/>
              <a:ext cx="2255" cy="53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555A61"/>
                  </a:solidFill>
                </a:defRPr>
              </a:pPr>
              <a:r>
                <a:rPr kumimoji="0" sz="600" b="1" i="0" u="none" strike="noStrike" kern="1200" cap="none" spc="0" normalizeH="0" baseline="0" noProof="0">
                  <a:ln>
                    <a:noFill/>
                  </a:ln>
                  <a:solidFill>
                    <a:srgbClr val="555A61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计划</a:t>
              </a:r>
              <a:endParaRPr kumimoji="0" sz="600" b="1" i="0" u="none" strike="noStrike" kern="1200" cap="none" spc="0" normalizeH="0" baseline="0" noProof="0">
                <a:ln>
                  <a:noFill/>
                </a:ln>
                <a:solidFill>
                  <a:srgbClr val="555A61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55" name="flow-1-shaft"/>
            <p:cNvSpPr>
              <a:spLocks noGrp="1"/>
            </p:cNvSpPr>
            <p:nvPr>
              <p:custDataLst>
                <p:tags r:id="rId47"/>
              </p:custDataLst>
            </p:nvPr>
          </p:nvSpPr>
          <p:spPr>
            <a:xfrm>
              <a:off x="9060" y="2085"/>
              <a:ext cx="135" cy="15"/>
            </a:xfrm>
            <a:prstGeom prst="line">
              <a:avLst/>
            </a:prstGeom>
            <a:noFill/>
            <a:ln w="47625">
              <a:solidFill>
                <a:srgbClr val="D61F2C"/>
              </a:solidFill>
              <a:prstDash val="solid"/>
            </a:ln>
          </p:spPr>
        </p:sp>
        <p:sp>
          <p:nvSpPr>
            <p:cNvPr id="56" name="flow-1-head"/>
            <p:cNvSpPr>
              <a:spLocks noGrp="1"/>
            </p:cNvSpPr>
            <p:nvPr>
              <p:custDataLst>
                <p:tags r:id="rId48"/>
              </p:custDataLst>
            </p:nvPr>
          </p:nvSpPr>
          <p:spPr>
            <a:xfrm rot="5400000">
              <a:off x="9090" y="1950"/>
              <a:ext cx="225" cy="270"/>
            </a:xfrm>
            <a:prstGeom prst="triangle">
              <a:avLst/>
            </a:prstGeom>
            <a:solidFill>
              <a:srgbClr val="D61F2C"/>
            </a:solidFill>
            <a:ln w="6350">
              <a:solidFill>
                <a:srgbClr val="D61F2C"/>
              </a:solidFill>
              <a:prstDash val="solid"/>
            </a:ln>
          </p:spPr>
        </p:sp>
        <p:sp>
          <p:nvSpPr>
            <p:cNvPr id="57" name="card-Tool"/>
            <p:cNvSpPr>
              <a:spLocks noGrp="1"/>
            </p:cNvSpPr>
            <p:nvPr>
              <p:custDataLst>
                <p:tags r:id="rId49"/>
              </p:custDataLst>
            </p:nvPr>
          </p:nvSpPr>
          <p:spPr>
            <a:xfrm>
              <a:off x="9315" y="1095"/>
              <a:ext cx="3345" cy="2055"/>
            </a:xfrm>
            <a:prstGeom prst="roundRect">
              <a:avLst>
                <a:gd name="adj" fmla="val 5839"/>
              </a:avLst>
            </a:prstGeom>
            <a:solidFill>
              <a:srgbClr val="FFFFFF"/>
            </a:solidFill>
            <a:ln w="28575">
              <a:solidFill>
                <a:srgbClr val="F3C8CC"/>
              </a:solidFill>
              <a:prstDash val="solid"/>
            </a:ln>
          </p:spPr>
        </p:sp>
        <p:sp>
          <p:nvSpPr>
            <p:cNvPr id="58" name="label-Tool"/>
            <p:cNvSpPr>
              <a:spLocks noGrp="1"/>
            </p:cNvSpPr>
            <p:nvPr>
              <p:custDataLst>
                <p:tags r:id="rId50"/>
              </p:custDataLst>
            </p:nvPr>
          </p:nvSpPr>
          <p:spPr>
            <a:xfrm>
              <a:off x="10303" y="1485"/>
              <a:ext cx="2596" cy="60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2100" b="1">
                  <a:solidFill>
                    <a:srgbClr val="111216"/>
                  </a:solidFill>
                </a:defRPr>
              </a:pPr>
              <a:r>
                <a:rPr kumimoji="0" sz="600" b="1" i="0" u="none" strike="noStrike" kern="1200" cap="none" spc="0" normalizeH="0" baseline="0" noProof="0">
                  <a:ln>
                    <a:noFill/>
                  </a:ln>
                  <a:solidFill>
                    <a:srgbClr val="111216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Tool</a:t>
              </a:r>
              <a:endParaRPr kumimoji="0" sz="600" b="1" i="0" u="none" strike="noStrike" kern="1200" cap="none" spc="0" normalizeH="0" baseline="0" noProof="0">
                <a:ln>
                  <a:noFill/>
                </a:ln>
                <a:solidFill>
                  <a:srgbClr val="111216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59" name="cn-Tool"/>
            <p:cNvSpPr>
              <a:spLocks noGrp="1"/>
            </p:cNvSpPr>
            <p:nvPr>
              <p:custDataLst>
                <p:tags r:id="rId51"/>
              </p:custDataLst>
            </p:nvPr>
          </p:nvSpPr>
          <p:spPr>
            <a:xfrm>
              <a:off x="10303" y="2196"/>
              <a:ext cx="2722" cy="68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555A61"/>
                  </a:solidFill>
                </a:defRPr>
              </a:pPr>
              <a:r>
                <a:rPr kumimoji="0" sz="600" b="1" i="0" u="none" strike="noStrike" kern="1200" cap="none" spc="0" normalizeH="0" baseline="0" noProof="0">
                  <a:ln>
                    <a:noFill/>
                  </a:ln>
                  <a:solidFill>
                    <a:srgbClr val="555A61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工具</a:t>
              </a:r>
              <a:endParaRPr kumimoji="0" sz="600" b="1" i="0" u="none" strike="noStrike" kern="1200" cap="none" spc="0" normalizeH="0" baseline="0" noProof="0">
                <a:ln>
                  <a:noFill/>
                </a:ln>
                <a:solidFill>
                  <a:srgbClr val="555A61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0" name="flow-2-shaft"/>
            <p:cNvSpPr>
              <a:spLocks noGrp="1"/>
            </p:cNvSpPr>
            <p:nvPr>
              <p:custDataLst>
                <p:tags r:id="rId52"/>
              </p:custDataLst>
            </p:nvPr>
          </p:nvSpPr>
          <p:spPr>
            <a:xfrm>
              <a:off x="12660" y="2085"/>
              <a:ext cx="75" cy="15"/>
            </a:xfrm>
            <a:prstGeom prst="line">
              <a:avLst/>
            </a:prstGeom>
            <a:noFill/>
            <a:ln w="47625">
              <a:solidFill>
                <a:srgbClr val="D61F2C"/>
              </a:solidFill>
              <a:prstDash val="solid"/>
            </a:ln>
          </p:spPr>
        </p:sp>
        <p:sp>
          <p:nvSpPr>
            <p:cNvPr id="61" name="flow-2-head"/>
            <p:cNvSpPr>
              <a:spLocks noGrp="1"/>
            </p:cNvSpPr>
            <p:nvPr>
              <p:custDataLst>
                <p:tags r:id="rId53"/>
              </p:custDataLst>
            </p:nvPr>
          </p:nvSpPr>
          <p:spPr>
            <a:xfrm rot="5400000">
              <a:off x="12630" y="1950"/>
              <a:ext cx="225" cy="270"/>
            </a:xfrm>
            <a:prstGeom prst="triangle">
              <a:avLst/>
            </a:prstGeom>
            <a:solidFill>
              <a:srgbClr val="D61F2C"/>
            </a:solidFill>
            <a:ln w="9525">
              <a:solidFill>
                <a:srgbClr val="D61F2C"/>
              </a:solidFill>
              <a:prstDash val="solid"/>
            </a:ln>
          </p:spPr>
        </p:sp>
        <p:sp>
          <p:nvSpPr>
            <p:cNvPr id="62" name="card-Action"/>
            <p:cNvSpPr>
              <a:spLocks noGrp="1"/>
            </p:cNvSpPr>
            <p:nvPr>
              <p:custDataLst>
                <p:tags r:id="rId54"/>
              </p:custDataLst>
            </p:nvPr>
          </p:nvSpPr>
          <p:spPr>
            <a:xfrm>
              <a:off x="12855" y="1095"/>
              <a:ext cx="3345" cy="2055"/>
            </a:xfrm>
            <a:prstGeom prst="roundRect">
              <a:avLst>
                <a:gd name="adj" fmla="val 5839"/>
              </a:avLst>
            </a:prstGeom>
            <a:solidFill>
              <a:srgbClr val="FFFFFF"/>
            </a:solidFill>
            <a:ln w="28575">
              <a:solidFill>
                <a:srgbClr val="F3C8CC"/>
              </a:solidFill>
              <a:prstDash val="solid"/>
            </a:ln>
          </p:spPr>
        </p:sp>
        <p:sp>
          <p:nvSpPr>
            <p:cNvPr id="63" name="label-Action"/>
            <p:cNvSpPr>
              <a:spLocks noGrp="1"/>
            </p:cNvSpPr>
            <p:nvPr>
              <p:custDataLst>
                <p:tags r:id="rId55"/>
              </p:custDataLst>
            </p:nvPr>
          </p:nvSpPr>
          <p:spPr>
            <a:xfrm>
              <a:off x="13479" y="1514"/>
              <a:ext cx="3218" cy="60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2100" b="1">
                  <a:solidFill>
                    <a:srgbClr val="111216"/>
                  </a:solidFill>
                </a:defRPr>
              </a:pPr>
              <a:r>
                <a:rPr kumimoji="0" sz="600" b="1" i="0" u="none" strike="noStrike" kern="1200" cap="none" spc="0" normalizeH="0" baseline="0" noProof="0">
                  <a:ln>
                    <a:noFill/>
                  </a:ln>
                  <a:solidFill>
                    <a:srgbClr val="111216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Action</a:t>
              </a:r>
              <a:endParaRPr kumimoji="0" sz="600" b="1" i="0" u="none" strike="noStrike" kern="1200" cap="none" spc="0" normalizeH="0" baseline="0" noProof="0">
                <a:ln>
                  <a:noFill/>
                </a:ln>
                <a:solidFill>
                  <a:srgbClr val="111216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4" name="cn-Action"/>
            <p:cNvSpPr>
              <a:spLocks noGrp="1"/>
            </p:cNvSpPr>
            <p:nvPr>
              <p:custDataLst>
                <p:tags r:id="rId56"/>
              </p:custDataLst>
            </p:nvPr>
          </p:nvSpPr>
          <p:spPr>
            <a:xfrm>
              <a:off x="13748" y="2221"/>
              <a:ext cx="2255" cy="53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555A61"/>
                  </a:solidFill>
                </a:defRPr>
              </a:pPr>
              <a:r>
                <a:rPr kumimoji="0" sz="600" b="1" i="0" u="none" strike="noStrike" kern="1200" cap="none" spc="0" normalizeH="0" baseline="0" noProof="0">
                  <a:ln>
                    <a:noFill/>
                  </a:ln>
                  <a:solidFill>
                    <a:srgbClr val="555A61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执行</a:t>
              </a:r>
              <a:endParaRPr kumimoji="0" sz="600" b="1" i="0" u="none" strike="noStrike" kern="1200" cap="none" spc="0" normalizeH="0" baseline="0" noProof="0">
                <a:ln>
                  <a:noFill/>
                </a:ln>
                <a:solidFill>
                  <a:srgbClr val="555A61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5" name="event-center"/>
            <p:cNvSpPr>
              <a:spLocks noGrp="1"/>
            </p:cNvSpPr>
            <p:nvPr/>
          </p:nvSpPr>
          <p:spPr>
            <a:xfrm>
              <a:off x="17970" y="840"/>
              <a:ext cx="4725" cy="7320"/>
            </a:xfrm>
            <a:prstGeom prst="roundRect">
              <a:avLst>
                <a:gd name="adj" fmla="val 2540"/>
              </a:avLst>
            </a:prstGeom>
            <a:solidFill>
              <a:srgbClr val="FFFFFF"/>
            </a:solidFill>
            <a:ln w="28575">
              <a:solidFill>
                <a:srgbClr val="F2C6CA"/>
              </a:solidFill>
              <a:prstDash val="solid"/>
            </a:ln>
          </p:spPr>
        </p:sp>
        <p:sp>
          <p:nvSpPr>
            <p:cNvPr id="66" name="event-title-bg"/>
            <p:cNvSpPr>
              <a:spLocks noGrp="1"/>
            </p:cNvSpPr>
            <p:nvPr/>
          </p:nvSpPr>
          <p:spPr>
            <a:xfrm>
              <a:off x="18270" y="1155"/>
              <a:ext cx="4110" cy="960"/>
            </a:xfrm>
            <a:prstGeom prst="roundRect">
              <a:avLst>
                <a:gd name="adj" fmla="val 12500"/>
              </a:avLst>
            </a:prstGeom>
            <a:solidFill>
              <a:srgbClr val="FBEDEF">
                <a:alpha val="57000"/>
              </a:srgbClr>
            </a:solidFill>
            <a:ln w="0">
              <a:noFill/>
              <a:prstDash val="solid"/>
            </a:ln>
          </p:spPr>
        </p:sp>
        <p:sp>
          <p:nvSpPr>
            <p:cNvPr id="67" name="event-title"/>
            <p:cNvSpPr>
              <a:spLocks noGrp="1"/>
            </p:cNvSpPr>
            <p:nvPr/>
          </p:nvSpPr>
          <p:spPr>
            <a:xfrm>
              <a:off x="17942" y="1199"/>
              <a:ext cx="4909" cy="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2250" b="1">
                  <a:solidFill>
                    <a:srgbClr val="B61E28"/>
                  </a:solidFill>
                </a:defRPr>
              </a:pPr>
              <a:r>
                <a:rPr kumimoji="0" sz="6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行为与事件中心</a:t>
              </a:r>
              <a:endParaRPr kumimoji="0" sz="6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8" name="矩形 67"/>
            <p:cNvSpPr>
              <a:spLocks noGrp="1"/>
            </p:cNvSpPr>
            <p:nvPr/>
          </p:nvSpPr>
          <p:spPr>
            <a:xfrm>
              <a:off x="19285" y="2221"/>
              <a:ext cx="3706" cy="82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75" b="1">
                  <a:solidFill>
                    <a:srgbClr val="202126"/>
                  </a:solidFill>
                </a:defRPr>
              </a:pPr>
              <a:r>
                <a:rPr kumimoji="0" sz="600" b="0" i="0" u="none" strike="noStrike" kern="1200" cap="none" spc="0" normalizeH="0" baseline="0" noProof="0">
                  <a:ln>
                    <a:noFill/>
                  </a:ln>
                  <a:solidFill>
                    <a:srgbClr val="202126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风险事件</a:t>
              </a:r>
              <a:endParaRPr kumimoji="0" sz="600" b="0" i="0" u="none" strike="noStrike" kern="1200" cap="none" spc="0" normalizeH="0" baseline="0" noProof="0">
                <a:ln>
                  <a:noFill/>
                </a:ln>
                <a:solidFill>
                  <a:srgbClr val="202126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9" name="矩形 68"/>
            <p:cNvSpPr>
              <a:spLocks noGrp="1"/>
            </p:cNvSpPr>
            <p:nvPr/>
          </p:nvSpPr>
          <p:spPr>
            <a:xfrm>
              <a:off x="19276" y="3579"/>
              <a:ext cx="3513" cy="82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75" b="1">
                  <a:solidFill>
                    <a:srgbClr val="202126"/>
                  </a:solidFill>
                </a:defRPr>
              </a:pPr>
              <a:r>
                <a:rPr kumimoji="0" sz="600" b="0" i="0" u="none" strike="noStrike" kern="1200" cap="none" spc="0" normalizeH="0" baseline="0" noProof="0">
                  <a:ln>
                    <a:noFill/>
                  </a:ln>
                  <a:solidFill>
                    <a:srgbClr val="202126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调用链路</a:t>
              </a:r>
              <a:endParaRPr kumimoji="0" sz="600" b="0" i="0" u="none" strike="noStrike" kern="1200" cap="none" spc="0" normalizeH="0" baseline="0" noProof="0">
                <a:ln>
                  <a:noFill/>
                </a:ln>
                <a:solidFill>
                  <a:srgbClr val="202126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70" name="矩形 69"/>
            <p:cNvSpPr>
              <a:spLocks noGrp="1"/>
            </p:cNvSpPr>
            <p:nvPr/>
          </p:nvSpPr>
          <p:spPr>
            <a:xfrm>
              <a:off x="19322" y="5220"/>
              <a:ext cx="3513" cy="82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75" b="1">
                  <a:solidFill>
                    <a:srgbClr val="202126"/>
                  </a:solidFill>
                </a:defRPr>
              </a:pPr>
              <a:r>
                <a:rPr kumimoji="0" sz="600" b="0" i="0" u="none" strike="noStrike" kern="1200" cap="none" spc="0" normalizeH="0" baseline="0" noProof="0">
                  <a:ln>
                    <a:noFill/>
                  </a:ln>
                  <a:solidFill>
                    <a:srgbClr val="202126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策略命中</a:t>
              </a:r>
              <a:endParaRPr kumimoji="0" sz="600" b="0" i="0" u="none" strike="noStrike" kern="1200" cap="none" spc="0" normalizeH="0" baseline="0" noProof="0">
                <a:ln>
                  <a:noFill/>
                </a:ln>
                <a:solidFill>
                  <a:srgbClr val="202126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71" name="矩形 70"/>
            <p:cNvSpPr>
              <a:spLocks noGrp="1"/>
            </p:cNvSpPr>
            <p:nvPr/>
          </p:nvSpPr>
          <p:spPr>
            <a:xfrm>
              <a:off x="19299" y="6722"/>
              <a:ext cx="3340" cy="91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75" b="1">
                  <a:solidFill>
                    <a:srgbClr val="202126"/>
                  </a:solidFill>
                </a:defRPr>
              </a:pPr>
              <a:r>
                <a:rPr kumimoji="0" sz="600" b="0" i="0" u="none" strike="noStrike" kern="1200" cap="none" spc="0" normalizeH="0" baseline="0" noProof="0">
                  <a:ln>
                    <a:noFill/>
                  </a:ln>
                  <a:solidFill>
                    <a:srgbClr val="202126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审计追溯</a:t>
              </a:r>
              <a:endParaRPr kumimoji="0" sz="600" b="0" i="0" u="none" strike="noStrike" kern="1200" cap="none" spc="0" normalizeH="0" baseline="0" noProof="0">
                <a:ln>
                  <a:noFill/>
                </a:ln>
                <a:solidFill>
                  <a:srgbClr val="202126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72" name="event-arrow0"/>
            <p:cNvSpPr>
              <a:spLocks noGrp="1"/>
            </p:cNvSpPr>
            <p:nvPr/>
          </p:nvSpPr>
          <p:spPr>
            <a:xfrm rot="5400000">
              <a:off x="17805" y="1530"/>
              <a:ext cx="165" cy="180"/>
            </a:xfrm>
            <a:prstGeom prst="triangle">
              <a:avLst/>
            </a:prstGeom>
            <a:solidFill>
              <a:srgbClr val="F5A4AC"/>
            </a:solidFill>
            <a:ln w="9525">
              <a:solidFill>
                <a:srgbClr val="F5A4AC"/>
              </a:solidFill>
              <a:prstDash val="solid"/>
            </a:ln>
          </p:spPr>
        </p:sp>
        <p:sp>
          <p:nvSpPr>
            <p:cNvPr id="73" name="event-arrow1"/>
            <p:cNvSpPr>
              <a:spLocks noGrp="1"/>
            </p:cNvSpPr>
            <p:nvPr/>
          </p:nvSpPr>
          <p:spPr>
            <a:xfrm rot="5400000">
              <a:off x="17805" y="2760"/>
              <a:ext cx="165" cy="180"/>
            </a:xfrm>
            <a:prstGeom prst="triangle">
              <a:avLst/>
            </a:prstGeom>
            <a:solidFill>
              <a:srgbClr val="F5A4AC"/>
            </a:solidFill>
            <a:ln w="9525">
              <a:solidFill>
                <a:srgbClr val="F5A4AC"/>
              </a:solidFill>
              <a:prstDash val="solid"/>
            </a:ln>
          </p:spPr>
        </p:sp>
        <p:sp>
          <p:nvSpPr>
            <p:cNvPr id="74" name="event-arrow2"/>
            <p:cNvSpPr>
              <a:spLocks noGrp="1"/>
            </p:cNvSpPr>
            <p:nvPr/>
          </p:nvSpPr>
          <p:spPr>
            <a:xfrm rot="5400000">
              <a:off x="17805" y="4230"/>
              <a:ext cx="165" cy="180"/>
            </a:xfrm>
            <a:prstGeom prst="triangle">
              <a:avLst/>
            </a:prstGeom>
            <a:solidFill>
              <a:srgbClr val="F5A4AC"/>
            </a:solidFill>
            <a:ln w="9525">
              <a:solidFill>
                <a:srgbClr val="F5A4AC"/>
              </a:solidFill>
              <a:prstDash val="solid"/>
            </a:ln>
          </p:spPr>
        </p:sp>
        <p:sp>
          <p:nvSpPr>
            <p:cNvPr id="75" name="event-arrow3"/>
            <p:cNvSpPr>
              <a:spLocks noGrp="1"/>
            </p:cNvSpPr>
            <p:nvPr/>
          </p:nvSpPr>
          <p:spPr>
            <a:xfrm rot="5400000">
              <a:off x="17805" y="5730"/>
              <a:ext cx="165" cy="180"/>
            </a:xfrm>
            <a:prstGeom prst="triangle">
              <a:avLst/>
            </a:prstGeom>
            <a:solidFill>
              <a:srgbClr val="F5A4AC"/>
            </a:solidFill>
            <a:ln w="9525">
              <a:solidFill>
                <a:srgbClr val="F5A4AC"/>
              </a:solidFill>
              <a:prstDash val="solid"/>
            </a:ln>
          </p:spPr>
        </p:sp>
        <p:sp>
          <p:nvSpPr>
            <p:cNvPr id="76" name="event-trace-a4"/>
            <p:cNvSpPr>
              <a:spLocks noGrp="1"/>
            </p:cNvSpPr>
            <p:nvPr/>
          </p:nvSpPr>
          <p:spPr>
            <a:xfrm flipH="1">
              <a:off x="14583" y="6023"/>
              <a:ext cx="32" cy="1424"/>
            </a:xfrm>
            <a:prstGeom prst="line">
              <a:avLst/>
            </a:prstGeom>
            <a:noFill/>
            <a:ln w="19050">
              <a:solidFill>
                <a:srgbClr val="F5B8BD"/>
              </a:solidFill>
              <a:prstDash val="dash"/>
            </a:ln>
          </p:spPr>
        </p:sp>
        <p:sp>
          <p:nvSpPr>
            <p:cNvPr id="77" name="event-arrow4"/>
            <p:cNvSpPr>
              <a:spLocks noGrp="1"/>
            </p:cNvSpPr>
            <p:nvPr/>
          </p:nvSpPr>
          <p:spPr>
            <a:xfrm rot="5400000">
              <a:off x="17805" y="7275"/>
              <a:ext cx="165" cy="180"/>
            </a:xfrm>
            <a:prstGeom prst="triangle">
              <a:avLst/>
            </a:prstGeom>
            <a:solidFill>
              <a:srgbClr val="F5A4AC"/>
            </a:solidFill>
            <a:ln w="9525">
              <a:solidFill>
                <a:srgbClr val="F5A4AC"/>
              </a:solidFill>
              <a:prstDash val="solid"/>
            </a:ln>
          </p:spPr>
        </p:sp>
        <p:sp>
          <p:nvSpPr>
            <p:cNvPr id="79" name="矩形 78"/>
            <p:cNvSpPr>
              <a:spLocks noGrp="1"/>
            </p:cNvSpPr>
            <p:nvPr/>
          </p:nvSpPr>
          <p:spPr>
            <a:xfrm>
              <a:off x="6135" y="7395"/>
              <a:ext cx="2025" cy="73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1">
                  <a:solidFill>
                    <a:srgbClr val="202126"/>
                  </a:solidFill>
                </a:defRPr>
              </a:pPr>
              <a:r>
                <a:rPr kumimoji="0" sz="400" b="1" i="0" u="none" strike="noStrike" kern="1200" cap="none" spc="0" normalizeH="0" baseline="0" noProof="0">
                  <a:ln>
                    <a:noFill/>
                  </a:ln>
                  <a:solidFill>
                    <a:srgbClr val="202126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实时监控</a:t>
              </a:r>
              <a:endParaRPr kumimoji="0" sz="400" b="1" i="0" u="none" strike="noStrike" kern="1200" cap="none" spc="0" normalizeH="0" baseline="0" noProof="0">
                <a:ln>
                  <a:noFill/>
                </a:ln>
                <a:solidFill>
                  <a:srgbClr val="202126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82" name="矩形 81"/>
            <p:cNvSpPr>
              <a:spLocks noGrp="1"/>
            </p:cNvSpPr>
            <p:nvPr/>
          </p:nvSpPr>
          <p:spPr>
            <a:xfrm>
              <a:off x="10395" y="7395"/>
              <a:ext cx="2025" cy="73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1">
                  <a:solidFill>
                    <a:srgbClr val="202126"/>
                  </a:solidFill>
                </a:defRPr>
              </a:pPr>
              <a:r>
                <a:rPr kumimoji="0" sz="400" b="1" i="0" u="none" strike="noStrike" kern="1200" cap="none" spc="0" normalizeH="0" baseline="0" noProof="0">
                  <a:ln>
                    <a:noFill/>
                  </a:ln>
                  <a:solidFill>
                    <a:srgbClr val="202126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异常预警</a:t>
              </a:r>
              <a:endParaRPr kumimoji="0" sz="400" b="1" i="0" u="none" strike="noStrike" kern="1200" cap="none" spc="0" normalizeH="0" baseline="0" noProof="0">
                <a:ln>
                  <a:noFill/>
                </a:ln>
                <a:solidFill>
                  <a:srgbClr val="202126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90" name="矩形 89"/>
            <p:cNvSpPr>
              <a:spLocks noGrp="1"/>
            </p:cNvSpPr>
            <p:nvPr/>
          </p:nvSpPr>
          <p:spPr>
            <a:xfrm>
              <a:off x="14490" y="7395"/>
              <a:ext cx="2025" cy="73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1">
                  <a:solidFill>
                    <a:srgbClr val="202126"/>
                  </a:solidFill>
                </a:defRPr>
              </a:pPr>
              <a:r>
                <a:rPr kumimoji="0" sz="400" b="1" i="0" u="none" strike="noStrike" kern="1200" cap="none" spc="0" normalizeH="0" baseline="0" noProof="0">
                  <a:ln>
                    <a:noFill/>
                  </a:ln>
                  <a:solidFill>
                    <a:srgbClr val="202126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rPr>
                <a:t>云端审计</a:t>
              </a:r>
              <a:endParaRPr kumimoji="0" sz="400" b="1" i="0" u="none" strike="noStrike" kern="1200" cap="none" spc="0" normalizeH="0" baseline="0" noProof="0">
                <a:ln>
                  <a:noFill/>
                </a:ln>
                <a:solidFill>
                  <a:srgbClr val="202126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28" name="曲线连接符 92"/>
            <p:cNvCxnSpPr>
              <a:stCxn id="72" idx="3"/>
            </p:cNvCxnSpPr>
            <p:nvPr/>
          </p:nvCxnSpPr>
          <p:spPr>
            <a:xfrm rot="10800000" flipV="1">
              <a:off x="14468" y="1619"/>
              <a:ext cx="3330" cy="3267"/>
            </a:xfrm>
            <a:prstGeom prst="curvedConnector3">
              <a:avLst>
                <a:gd name="adj1" fmla="val 49970"/>
              </a:avLst>
            </a:prstGeom>
            <a:ln w="19050">
              <a:solidFill>
                <a:srgbClr val="F5B8BD"/>
              </a:solidFill>
              <a:prstDash val="dash"/>
            </a:ln>
          </p:spPr>
        </p:cxnSp>
        <p:cxnSp>
          <p:nvCxnSpPr>
            <p:cNvPr id="229" name="曲线连接符 93"/>
            <p:cNvCxnSpPr>
              <a:stCxn id="73" idx="3"/>
            </p:cNvCxnSpPr>
            <p:nvPr/>
          </p:nvCxnSpPr>
          <p:spPr>
            <a:xfrm rot="10800000" flipV="1">
              <a:off x="14582" y="2849"/>
              <a:ext cx="3216" cy="2037"/>
            </a:xfrm>
            <a:prstGeom prst="curvedConnector3">
              <a:avLst>
                <a:gd name="adj1" fmla="val 49969"/>
              </a:avLst>
            </a:prstGeom>
            <a:ln w="19050">
              <a:solidFill>
                <a:srgbClr val="F5B8BD"/>
              </a:solidFill>
              <a:prstDash val="dash"/>
            </a:ln>
          </p:spPr>
        </p:cxnSp>
        <p:cxnSp>
          <p:nvCxnSpPr>
            <p:cNvPr id="230" name="曲线连接符 94"/>
            <p:cNvCxnSpPr>
              <a:stCxn id="74" idx="4"/>
            </p:cNvCxnSpPr>
            <p:nvPr/>
          </p:nvCxnSpPr>
          <p:spPr>
            <a:xfrm rot="10800000" flipV="1">
              <a:off x="14468" y="4403"/>
              <a:ext cx="3330" cy="484"/>
            </a:xfrm>
            <a:prstGeom prst="curvedConnector3">
              <a:avLst>
                <a:gd name="adj1" fmla="val 49970"/>
              </a:avLst>
            </a:prstGeom>
            <a:ln w="19050">
              <a:solidFill>
                <a:srgbClr val="F5B8BD"/>
              </a:solidFill>
              <a:prstDash val="dash"/>
            </a:ln>
          </p:spPr>
        </p:cxnSp>
        <p:cxnSp>
          <p:nvCxnSpPr>
            <p:cNvPr id="231" name="曲线连接符 95"/>
            <p:cNvCxnSpPr/>
            <p:nvPr/>
          </p:nvCxnSpPr>
          <p:spPr>
            <a:xfrm rot="10800000">
              <a:off x="14467" y="4887"/>
              <a:ext cx="3289" cy="2494"/>
            </a:xfrm>
            <a:prstGeom prst="curvedConnector3">
              <a:avLst>
                <a:gd name="adj1" fmla="val 49985"/>
              </a:avLst>
            </a:prstGeom>
            <a:ln w="19050">
              <a:solidFill>
                <a:srgbClr val="F5B8BD"/>
              </a:solidFill>
              <a:prstDash val="dash"/>
            </a:ln>
          </p:spPr>
        </p:cxnSp>
        <p:cxnSp>
          <p:nvCxnSpPr>
            <p:cNvPr id="232" name="曲线连接符 96"/>
            <p:cNvCxnSpPr>
              <a:stCxn id="75" idx="3"/>
            </p:cNvCxnSpPr>
            <p:nvPr/>
          </p:nvCxnSpPr>
          <p:spPr>
            <a:xfrm rot="10800000">
              <a:off x="14468" y="4886"/>
              <a:ext cx="3330" cy="933"/>
            </a:xfrm>
            <a:prstGeom prst="curvedConnector3">
              <a:avLst>
                <a:gd name="adj1" fmla="val 49970"/>
              </a:avLst>
            </a:prstGeom>
            <a:ln w="19050">
              <a:solidFill>
                <a:srgbClr val="F5B8BD"/>
              </a:solidFill>
              <a:prstDash val="dash"/>
            </a:ln>
          </p:spPr>
        </p:cxnSp>
        <p:cxnSp>
          <p:nvCxnSpPr>
            <p:cNvPr id="233" name="直接箭头连接符 97"/>
            <p:cNvCxnSpPr/>
            <p:nvPr/>
          </p:nvCxnSpPr>
          <p:spPr>
            <a:xfrm flipV="1">
              <a:off x="10499" y="3299"/>
              <a:ext cx="2722" cy="1701"/>
            </a:xfrm>
            <a:prstGeom prst="straightConnector1">
              <a:avLst/>
            </a:prstGeom>
            <a:ln w="19050">
              <a:solidFill>
                <a:srgbClr val="F5B8BD"/>
              </a:solidFill>
              <a:prstDash val="dash"/>
              <a:headEnd type="none"/>
              <a:tailEnd type="triangle"/>
            </a:ln>
          </p:spPr>
        </p:cxnSp>
        <p:cxnSp>
          <p:nvCxnSpPr>
            <p:cNvPr id="234" name="直接箭头连接符 99"/>
            <p:cNvCxnSpPr>
              <a:endCxn id="12" idx="2"/>
            </p:cNvCxnSpPr>
            <p:nvPr/>
          </p:nvCxnSpPr>
          <p:spPr>
            <a:xfrm flipH="1" flipV="1">
              <a:off x="7388" y="3150"/>
              <a:ext cx="2915" cy="1939"/>
            </a:xfrm>
            <a:prstGeom prst="straightConnector1">
              <a:avLst/>
            </a:prstGeom>
            <a:ln w="19050">
              <a:solidFill>
                <a:srgbClr val="F5B8BD"/>
              </a:solidFill>
              <a:prstDash val="dash"/>
              <a:tailEnd type="triangle"/>
            </a:ln>
          </p:spPr>
        </p:cxnSp>
        <p:cxnSp>
          <p:nvCxnSpPr>
            <p:cNvPr id="235" name="直接箭头连接符 100"/>
            <p:cNvCxnSpPr/>
            <p:nvPr/>
          </p:nvCxnSpPr>
          <p:spPr>
            <a:xfrm flipV="1">
              <a:off x="10386" y="3116"/>
              <a:ext cx="0" cy="4309"/>
            </a:xfrm>
            <a:prstGeom prst="straightConnector1">
              <a:avLst/>
            </a:prstGeom>
            <a:ln w="19050">
              <a:solidFill>
                <a:srgbClr val="F5B8BD"/>
              </a:solidFill>
              <a:prstDash val="dash"/>
              <a:headEnd type="triangle"/>
              <a:tailEnd type="triangle"/>
            </a:ln>
          </p:spPr>
        </p:cxnSp>
        <p:pic>
          <p:nvPicPr>
            <p:cNvPr id="236" name="图片 235"/>
            <p:cNvPicPr>
              <a:picLocks noChangeAspect="1"/>
            </p:cNvPicPr>
            <p:nvPr>
              <p:custDataLst>
                <p:tags r:id="rId57"/>
              </p:custDataLst>
            </p:nvPr>
          </p:nvPicPr>
          <p:blipFill>
            <a:blip r:embed="rId58"/>
            <a:stretch>
              <a:fillRect/>
            </a:stretch>
          </p:blipFill>
          <p:spPr>
            <a:xfrm>
              <a:off x="2235" y="1545"/>
              <a:ext cx="706" cy="900"/>
            </a:xfrm>
            <a:prstGeom prst="rect">
              <a:avLst/>
            </a:prstGeom>
          </p:spPr>
        </p:pic>
        <p:pic>
          <p:nvPicPr>
            <p:cNvPr id="237" name="图片 236"/>
            <p:cNvPicPr>
              <a:picLocks noChangeAspect="1"/>
            </p:cNvPicPr>
            <p:nvPr>
              <p:custDataLst>
                <p:tags r:id="rId59"/>
              </p:custDataLst>
            </p:nvPr>
          </p:nvPicPr>
          <p:blipFill>
            <a:blip r:embed="rId60"/>
            <a:stretch>
              <a:fillRect/>
            </a:stretch>
          </p:blipFill>
          <p:spPr>
            <a:xfrm>
              <a:off x="6110" y="1545"/>
              <a:ext cx="739" cy="975"/>
            </a:xfrm>
            <a:prstGeom prst="rect">
              <a:avLst/>
            </a:prstGeom>
          </p:spPr>
        </p:pic>
        <p:pic>
          <p:nvPicPr>
            <p:cNvPr id="238" name="图片 237"/>
            <p:cNvPicPr>
              <a:picLocks noChangeAspect="1"/>
            </p:cNvPicPr>
            <p:nvPr>
              <p:custDataLst>
                <p:tags r:id="rId61"/>
              </p:custDataLst>
            </p:nvPr>
          </p:nvPicPr>
          <p:blipFill>
            <a:blip r:embed="rId62"/>
            <a:stretch>
              <a:fillRect/>
            </a:stretch>
          </p:blipFill>
          <p:spPr>
            <a:xfrm>
              <a:off x="9748" y="1515"/>
              <a:ext cx="753" cy="975"/>
            </a:xfrm>
            <a:prstGeom prst="rect">
              <a:avLst/>
            </a:prstGeom>
          </p:spPr>
        </p:pic>
        <p:pic>
          <p:nvPicPr>
            <p:cNvPr id="239" name="图片 238"/>
            <p:cNvPicPr>
              <a:picLocks noChangeAspect="1"/>
            </p:cNvPicPr>
            <p:nvPr>
              <p:custDataLst>
                <p:tags r:id="rId63"/>
              </p:custDataLst>
            </p:nvPr>
          </p:nvPicPr>
          <p:blipFill>
            <a:blip r:embed="rId64"/>
            <a:stretch>
              <a:fillRect/>
            </a:stretch>
          </p:blipFill>
          <p:spPr>
            <a:xfrm>
              <a:off x="13230" y="1561"/>
              <a:ext cx="870" cy="913"/>
            </a:xfrm>
            <a:prstGeom prst="rect">
              <a:avLst/>
            </a:prstGeom>
          </p:spPr>
        </p:pic>
        <p:pic>
          <p:nvPicPr>
            <p:cNvPr id="240" name="图片 239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18555" y="2238"/>
              <a:ext cx="870" cy="774"/>
            </a:xfrm>
            <a:prstGeom prst="rect">
              <a:avLst/>
            </a:prstGeom>
          </p:spPr>
        </p:pic>
        <p:pic>
          <p:nvPicPr>
            <p:cNvPr id="241" name="图片 240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18555" y="3645"/>
              <a:ext cx="876" cy="990"/>
            </a:xfrm>
            <a:prstGeom prst="rect">
              <a:avLst/>
            </a:prstGeom>
          </p:spPr>
        </p:pic>
        <p:pic>
          <p:nvPicPr>
            <p:cNvPr id="242" name="图片 241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18551" y="5220"/>
              <a:ext cx="730" cy="975"/>
            </a:xfrm>
            <a:prstGeom prst="rect">
              <a:avLst/>
            </a:prstGeom>
          </p:spPr>
        </p:pic>
        <p:pic>
          <p:nvPicPr>
            <p:cNvPr id="243" name="图片 242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18645" y="6738"/>
              <a:ext cx="840" cy="864"/>
            </a:xfrm>
            <a:prstGeom prst="rect">
              <a:avLst/>
            </a:prstGeom>
          </p:spPr>
        </p:pic>
        <p:pic>
          <p:nvPicPr>
            <p:cNvPr id="244" name="图片 243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5238" y="7336"/>
              <a:ext cx="993" cy="1043"/>
            </a:xfrm>
            <a:prstGeom prst="rect">
              <a:avLst/>
            </a:prstGeom>
          </p:spPr>
        </p:pic>
        <p:pic>
          <p:nvPicPr>
            <p:cNvPr id="245" name="图片 244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20" y="7395"/>
              <a:ext cx="993" cy="766"/>
            </a:xfrm>
            <a:prstGeom prst="rect">
              <a:avLst/>
            </a:prstGeom>
          </p:spPr>
        </p:pic>
        <p:pic>
          <p:nvPicPr>
            <p:cNvPr id="246" name="图片 245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13349" y="7307"/>
              <a:ext cx="1119" cy="946"/>
            </a:xfrm>
            <a:prstGeom prst="rect">
              <a:avLst/>
            </a:prstGeom>
          </p:spPr>
        </p:pic>
      </p:grpSp>
      <p:sp>
        <p:nvSpPr>
          <p:cNvPr id="185" name="文本框 184"/>
          <p:cNvSpPr txBox="1"/>
          <p:nvPr/>
        </p:nvSpPr>
        <p:spPr>
          <a:xfrm>
            <a:off x="386080" y="6261100"/>
            <a:ext cx="3553460" cy="379730"/>
          </a:xfrm>
          <a:prstGeom prst="rect">
            <a:avLst/>
          </a:prstGeom>
        </p:spPr>
        <p:txBody>
          <a:bodyPr vert="horz" wrap="none" lIns="36000" tIns="36000" rIns="36000" bIns="3600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数据权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4314825" y="6261100"/>
            <a:ext cx="3599815" cy="443865"/>
          </a:xfrm>
          <a:prstGeom prst="rect">
            <a:avLst/>
          </a:prstGeom>
        </p:spPr>
        <p:txBody>
          <a:bodyPr vert="horz" wrap="none" lIns="36000" tIns="36000" rIns="36000" bIns="3600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执行权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8234045" y="6261100"/>
            <a:ext cx="3667760" cy="379730"/>
          </a:xfrm>
          <a:prstGeom prst="rect">
            <a:avLst/>
          </a:prstGeom>
        </p:spPr>
        <p:txBody>
          <a:bodyPr vert="horz" wrap="none" lIns="36000" tIns="36000" rIns="36000" bIns="3600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审计权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AutoShape 6"/>
          <p:cNvSpPr/>
          <p:nvPr/>
        </p:nvSpPr>
        <p:spPr>
          <a:xfrm>
            <a:off x="1717675" y="4470400"/>
            <a:ext cx="2103120" cy="1118235"/>
          </a:xfrm>
          <a:prstGeom prst="roundRect">
            <a:avLst>
              <a:gd name="adj" fmla="val 3776"/>
            </a:avLst>
          </a:prstGeom>
          <a:solidFill>
            <a:schemeClr val="bg1">
              <a:lumMod val="95000"/>
              <a:alpha val="42724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63500" tIns="63500" rIns="63500" bIns="63500" rtlCol="0" anchor="ctr"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早晨通勤，车主说：</a:t>
            </a:r>
            <a:r>
              <a:rPr kumimoji="0" lang="en-US" altLang="zh-CN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kumimoji="0" lang="zh-CN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帮我给老婆发消息，告诉她体检单号</a:t>
            </a:r>
            <a:r>
              <a:rPr kumimoji="0" lang="en-US" altLang="zh-CN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20260827</a:t>
            </a:r>
            <a:r>
              <a:rPr kumimoji="0" lang="zh-CN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，中山医院登陆密码</a:t>
            </a:r>
            <a:r>
              <a:rPr kumimoji="0" lang="en-US" altLang="zh-CN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kumimoji="0" lang="zh-CN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</a:t>
            </a:r>
            <a:r>
              <a:rPr kumimoji="0" lang="en-US" altLang="zh-CN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kumimoji="0" lang="zh-CN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kumimoji="0" lang="en-US" altLang="zh-CN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endParaRPr kumimoji="0" lang="en-US" altLang="zh-CN" sz="9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语音识别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检测到健康隐私数据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启用抗量子加密通道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消息安全送达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AutoShape 6"/>
          <p:cNvSpPr/>
          <p:nvPr/>
        </p:nvSpPr>
        <p:spPr>
          <a:xfrm>
            <a:off x="5685155" y="4470400"/>
            <a:ext cx="2103120" cy="1118235"/>
          </a:xfrm>
          <a:prstGeom prst="roundRect">
            <a:avLst>
              <a:gd name="adj" fmla="val 3776"/>
            </a:avLst>
          </a:prstGeom>
          <a:solidFill>
            <a:schemeClr val="bg1">
              <a:lumMod val="95000"/>
              <a:alpha val="42724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63500" tIns="63500" rIns="63500" bIns="63500" rtlCol="0" anchor="ctr">
            <a:noAutofit/>
          </a:bodyPr>
          <a:p>
            <a: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正午时分，车主说："明天去杭州西湖玩，帮我查下天气。"座舱AI调用云端服务时，遭遇中间人攻击，攻击者试图注入恶意指令，劫持</a:t>
            </a:r>
            <a:r>
              <a:rPr lang="en-US" altLang="zh-CN" sz="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</a:t>
            </a:r>
            <a:r>
              <a:rPr lang="zh-CN" altLang="en-US" sz="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读取用户通讯录并上传。</a:t>
            </a:r>
            <a:endParaRPr lang="zh-CN" altLang="en-US" sz="8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Harness介入 → 识别</a:t>
            </a:r>
            <a:r>
              <a:rPr lang="zh-CN" altLang="en-US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恶意注入</a:t>
            </a:r>
            <a:r>
              <a:rPr lang="en-US" altLang="zh-CN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→ 阻断</a:t>
            </a:r>
            <a:r>
              <a:rPr lang="zh-CN" altLang="en-US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劫持行为</a:t>
            </a:r>
            <a:r>
              <a:rPr lang="en-US" altLang="zh-CN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→ </a:t>
            </a:r>
            <a:r>
              <a:rPr lang="zh-CN" altLang="en-US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仅返回天气结果</a:t>
            </a:r>
            <a:endParaRPr lang="zh-CN" altLang="en-US" sz="9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AutoShape 6"/>
          <p:cNvSpPr/>
          <p:nvPr/>
        </p:nvSpPr>
        <p:spPr>
          <a:xfrm>
            <a:off x="9630410" y="4470400"/>
            <a:ext cx="2103120" cy="1118235"/>
          </a:xfrm>
          <a:prstGeom prst="roundRect">
            <a:avLst>
              <a:gd name="adj" fmla="val 3776"/>
            </a:avLst>
          </a:prstGeom>
          <a:solidFill>
            <a:schemeClr val="bg1">
              <a:lumMod val="95000"/>
              <a:alpha val="42724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63500" tIns="63500" rIns="63500" bIns="63500" rtlCol="0" anchor="ctr">
            <a:noAutofit/>
          </a:bodyPr>
          <a:p>
            <a: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凌晨</a:t>
            </a:r>
            <a:r>
              <a:rPr lang="en-US" altLang="zh-CN" sz="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点，</a:t>
            </a:r>
            <a:r>
              <a:rPr lang="en-US" altLang="zh-CN" sz="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 Agent</a:t>
            </a:r>
            <a:r>
              <a:rPr lang="zh-CN" altLang="en-US" sz="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突然频繁调用摄像头并尝试上传定位数据。</a:t>
            </a:r>
            <a:endParaRPr lang="zh-CN" altLang="en-US" sz="8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Monitor</a:t>
            </a:r>
            <a:r>
              <a:rPr lang="zh-CN" altLang="en-US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检测异常</a:t>
            </a:r>
            <a:r>
              <a:rPr lang="en-US" altLang="zh-CN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en-US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lang="en-US" altLang="zh-CN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秒级预警</a:t>
            </a:r>
            <a:r>
              <a:rPr lang="en-US" altLang="zh-CN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en-US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lang="en-US" altLang="zh-CN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全链路审计溯源</a:t>
            </a:r>
            <a:r>
              <a:rPr lang="en-US" altLang="zh-CN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en-US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lang="en-US" altLang="zh-CN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9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快速定位根因</a:t>
            </a:r>
            <a:endParaRPr lang="zh-CN" altLang="en-US" sz="9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DIAGRAM_VIRTUALLY_FRAME" val="{&quot;height&quot;:219.6261701176821,&quot;left&quot;:214.74999999999994,&quot;top&quot;:46.85,&quot;width&quot;:507.44579717619746}"/>
</p:tagLst>
</file>

<file path=ppt/tags/tag7.xml><?xml version="1.0" encoding="utf-8"?>
<p:tagLst xmlns:p="http://schemas.openxmlformats.org/presentationml/2006/main">
  <p:tag name="KSO_WM_DIAGRAM_VIRTUALLY_FRAME" val="{&quot;height&quot;:219.6261701176821,&quot;left&quot;:214.74999999999994,&quot;top&quot;:46.85,&quot;width&quot;:507.44579717619746}"/>
</p:tagLst>
</file>

<file path=ppt/tags/tag8.xml><?xml version="1.0" encoding="utf-8"?>
<p:tagLst xmlns:p="http://schemas.openxmlformats.org/presentationml/2006/main">
  <p:tag name="KSO_WM_DIAGRAM_VIRTUALLY_FRAME" val="{&quot;height&quot;:219.6261701176821,&quot;left&quot;:214.74999999999994,&quot;top&quot;:46.85,&quot;width&quot;:507.44579717619746}"/>
</p:tagLst>
</file>

<file path=ppt/tags/tag9.xml><?xml version="1.0" encoding="utf-8"?>
<p:tagLst xmlns:p="http://schemas.openxmlformats.org/presentationml/2006/main">
  <p:tag name="KSO_WM_DIAGRAM_VIRTUALLY_FRAME" val="{&quot;height&quot;:219.6261701176821,&quot;left&quot;:214.74999999999994,&quot;top&quot;:46.85,&quot;width&quot;:507.44579717619746}"/>
</p:tagLst>
</file>

<file path=ppt/tags/tag10.xml><?xml version="1.0" encoding="utf-8"?>
<p:tagLst xmlns:p="http://schemas.openxmlformats.org/presentationml/2006/main">
  <p:tag name="KSO_WM_DIAGRAM_VIRTUALLY_FRAME" val="{&quot;height&quot;:219.6261701176821,&quot;left&quot;:214.74999999999994,&quot;top&quot;:46.85,&quot;width&quot;:507.44579717619746}"/>
</p:tagLst>
</file>

<file path=ppt/tags/tag11.xml><?xml version="1.0" encoding="utf-8"?>
<p:tagLst xmlns:p="http://schemas.openxmlformats.org/presentationml/2006/main">
  <p:tag name="KSO_WM_DIAGRAM_VIRTUALLY_FRAME" val="{&quot;height&quot;:219.6261701176821,&quot;left&quot;:214.74999999999994,&quot;top&quot;:46.85,&quot;width&quot;:507.44579717619746}"/>
</p:tagLst>
</file>

<file path=ppt/tags/tag12.xml><?xml version="1.0" encoding="utf-8"?>
<p:tagLst xmlns:p="http://schemas.openxmlformats.org/presentationml/2006/main">
  <p:tag name="KSO_WM_DIAGRAM_VIRTUALLY_FRAME" val="{&quot;height&quot;:219.6261701176821,&quot;left&quot;:214.74999999999994,&quot;top&quot;:46.85,&quot;width&quot;:507.44579717619746}"/>
</p:tagLst>
</file>

<file path=ppt/tags/tag13.xml><?xml version="1.0" encoding="utf-8"?>
<p:tagLst xmlns:p="http://schemas.openxmlformats.org/presentationml/2006/main">
  <p:tag name="KSO_WM_DIAGRAM_VIRTUALLY_FRAME" val="{&quot;height&quot;:219.6261701176821,&quot;left&quot;:214.74999999999994,&quot;top&quot;:46.85,&quot;width&quot;:507.44579717619746}"/>
</p:tagLst>
</file>

<file path=ppt/tags/tag14.xml><?xml version="1.0" encoding="utf-8"?>
<p:tagLst xmlns:p="http://schemas.openxmlformats.org/presentationml/2006/main">
  <p:tag name="KSO_WM_DIAGRAM_VIRTUALLY_FRAME" val="{&quot;height&quot;:219.6261701176821,&quot;left&quot;:214.74999999999994,&quot;top&quot;:46.85,&quot;width&quot;:507.44579717619746}"/>
</p:tagLst>
</file>

<file path=ppt/tags/tag15.xml><?xml version="1.0" encoding="utf-8"?>
<p:tagLst xmlns:p="http://schemas.openxmlformats.org/presentationml/2006/main">
  <p:tag name="KSO_WM_DIAGRAM_VIRTUALLY_FRAME" val="{&quot;height&quot;:219.6261701176821,&quot;left&quot;:214.74999999999994,&quot;top&quot;:46.85,&quot;width&quot;:507.44579717619746}"/>
</p:tagLst>
</file>

<file path=ppt/tags/tag16.xml><?xml version="1.0" encoding="utf-8"?>
<p:tagLst xmlns:p="http://schemas.openxmlformats.org/presentationml/2006/main">
  <p:tag name="KSO_WM_DIAGRAM_VIRTUALLY_FRAME" val="{&quot;height&quot;:219.6261701176821,&quot;left&quot;:214.74999999999994,&quot;top&quot;:46.85,&quot;width&quot;:507.44579717619746}"/>
</p:tagLst>
</file>

<file path=ppt/tags/tag17.xml><?xml version="1.0" encoding="utf-8"?>
<p:tagLst xmlns:p="http://schemas.openxmlformats.org/presentationml/2006/main">
  <p:tag name="KSO_WM_DIAGRAM_VIRTUALLY_FRAME" val="{&quot;height&quot;:219.6261701176821,&quot;left&quot;:214.74999999999994,&quot;top&quot;:46.85,&quot;width&quot;:507.44579717619746}"/>
</p:tagLst>
</file>

<file path=ppt/tags/tag18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19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20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21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22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23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24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25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26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27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28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29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30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31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32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33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34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35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36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37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38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ags/tag39.xml><?xml version="1.0" encoding="utf-8"?>
<p:tagLst xmlns:p="http://schemas.openxmlformats.org/presentationml/2006/main">
  <p:tag name="KSO_WM_DIAGRAM_VIRTUALLY_FRAME" val="{&quot;height&quot;:102.75,&quot;left&quot;:92.25,&quot;top&quot;:54.75,&quot;width&quot;:717.75}"/>
</p:tagLst>
</file>

<file path=ppt/theme/theme1.xml><?xml version="1.0" encoding="utf-8"?>
<a:theme xmlns:a="http://schemas.openxmlformats.org/drawingml/2006/main" name="6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897</Words>
  <Application>WPS 演示</Application>
  <PresentationFormat>宽屏</PresentationFormat>
  <Paragraphs>156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Century Gothic</vt:lpstr>
      <vt:lpstr>Noto Sans SC</vt:lpstr>
      <vt:lpstr>Wonder Sans Bold</vt:lpstr>
      <vt:lpstr>Segoe Print</vt:lpstr>
      <vt:lpstr>微软雅黑 Light</vt:lpstr>
      <vt:lpstr>Arial</vt:lpstr>
      <vt:lpstr>微软雅黑</vt:lpstr>
      <vt:lpstr>Aptos</vt:lpstr>
      <vt:lpstr>Aptos</vt:lpstr>
      <vt:lpstr>Aptos Display</vt:lpstr>
      <vt:lpstr>Aptos Display</vt:lpstr>
      <vt:lpstr>Arial Unicode MS</vt:lpstr>
      <vt:lpstr>等线 Light</vt:lpstr>
      <vt:lpstr>等线</vt:lpstr>
      <vt:lpstr>Segoe UI</vt:lpstr>
      <vt:lpstr>6_Office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徐滨辉</dc:creator>
  <cp:lastModifiedBy>罗强</cp:lastModifiedBy>
  <cp:revision>19</cp:revision>
  <dcterms:created xsi:type="dcterms:W3CDTF">2026-08-25T04:20:00Z</dcterms:created>
  <dcterms:modified xsi:type="dcterms:W3CDTF">2026-08-27T03:02:12Z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FEB886C7E9D547159D67BA4670593CA6_13</vt:lpwstr>
  </property>
  <property fmtid="{D5CDD505-2E9C-101B-9397-08002B2CF9AE}" pid="3" name="KSOProductBuildVer">
    <vt:lpwstr>2052-12.1.0.20784</vt:lpwstr>
  </property>
</Properties>
</file>